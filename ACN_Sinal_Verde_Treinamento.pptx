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8" r:id="rId39"/>
    <p:sldId id="270" r:id="rId16"/>
    <p:sldId id="271" r:id="rId17"/>
    <p:sldId id="289" r:id="rId40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0" r:id="rId41"/>
    <p:sldId id="301" r:id="rId52"/>
    <p:sldId id="302" r:id="rId53"/>
    <p:sldId id="294" r:id="rId45"/>
    <p:sldId id="293" r:id="rId44"/>
    <p:sldId id="292" r:id="rId43"/>
    <p:sldId id="291" r:id="rId42"/>
    <p:sldId id="295" r:id="rId46"/>
    <p:sldId id="296" r:id="rId47"/>
    <p:sldId id="297" r:id="rId48"/>
    <p:sldId id="298" r:id="rId49"/>
    <p:sldId id="299" r:id="rId50"/>
    <p:sldId id="300" r:id="rId51"/>
    <p:sldId id="303" r:id="rId54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  <Relationship Id="rId42" Type="http://schemas.openxmlformats.org/officeDocument/2006/relationships/slide" Target="slides/slide36.xml"/>
  <Relationship Id="rId43" Type="http://schemas.openxmlformats.org/officeDocument/2006/relationships/slide" Target="slides/slide37.xml"/>
  <Relationship Id="rId44" Type="http://schemas.openxmlformats.org/officeDocument/2006/relationships/slide" Target="slides/slide38.xml"/>
  <Relationship Id="rId45" Type="http://schemas.openxmlformats.org/officeDocument/2006/relationships/slide" Target="slides/slide39.xml"/>
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Apresente-se e explique que o treinamento cobrirá todos os módulos do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os objetivos do treinamento. Enfatize que o sistema é web e não requer instalação.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mapa completo de módulos. Os colaboradores podem acessar só os módulos permitidos pelo perfil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o login ao vivo. Mostre também o funcionamento no celular (menu hambúrguer).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a criação de uma OP ao vivo. Ressalte que ao salvar, a Engenharia é notificada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como filtrar projetos atrasados e como acessar uma proposta existente.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 Engenharia é a ponte entre Comercial e Produção. Mostre o BOM e as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a criação de uma Demanda Avulsa com etapas e prioridade Urgente.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PCP é o coração do planejamento — conecta Comercial e Produção. Mostre a fila e os gargalos.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Serralheria e Chicotes são setores especializados com abas próprias. Cada setor vê apenas suas demandas.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o controle por etapas na Produção e o papel do Laboratório antes da entrega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Compras e Almoxarifado trabalham em conjunto: a Compra abastece o estoque, o Almox. monta os kits.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CQ é a porta de saída da produção. Só passa pelo Logística quem foi aprovado no CQ.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fluxo de vistoria de entrada. Ressalte a importância das fotos como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a diferença no fluxo de garantia vs. fora de garantia. Mostre a criação de uma 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o Kanban. Mostre como mover uma oportunidade de Proposta para Negociação.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a transcrição de áudio com IA — diferencial para registros de reunião e ligações.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WhatsApp integrado é diferencial competitivo. Mostre o badge pulsante e a conversa inline.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licitacoes correm em paralelo ao CRM de vendas privadas, com etapas proprias.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modulo Fiscal fecha o ciclo financeiro de cada OPL. NF so pode ser emitida apos aprovacao CQ.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cadastro de RH alimenta toda a plataforma. Sem colaborador cadastrado, nao e possivel atribuir operador ou tecnico.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relatorios sao acessiveis por perfil — gestores veem o consolidado, cada setor ve seus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Apenas o perfil Admin pode criar e editar usuarios. Recomende criar um admin de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modo escuro ao vivo. Abra no celular e demonstre o menu hamburguer.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o treinamento. Abra o sistema e incentive cada participante a fazer login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365760"/>
            <a:ext cx="3200400" cy="32004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931920"/>
            <a:ext cx="822960" cy="8229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85800"/>
            <a:ext cx="2926080" cy="566928"/>
          </a:xfrm>
          <a:prstGeom prst="roundRect">
            <a:avLst>
              <a:gd name="adj" fmla="val 806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22376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ACN SINAL VERDE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INTERNO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Industrial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completo de uso • Todos os módulos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spinsc.github.io/ACN   •   Julho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2697480" cy="3474720"/>
          </a:xfrm>
          <a:prstGeom prst="roundRect">
            <a:avLst>
              <a:gd name="adj" fmla="val 203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1600200"/>
            <a:ext cx="244144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Dominar todos os módulos do ACN Sinal Verde para executar as atividades do dia a dia com total autonomia.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207008"/>
            <a:ext cx="2697480" cy="3474720"/>
          </a:xfrm>
          <a:prstGeom prst="roundRect">
            <a:avLst>
              <a:gd name="adj" fmla="val 203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5576" y="129844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65576" y="1600200"/>
            <a:ext cx="244144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equipe: Comercial, Engenharia, PCP, Produção, SAC, CRM, Fiscal, RH e Gestão.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207008"/>
            <a:ext cx="2697480" cy="3474720"/>
          </a:xfrm>
          <a:prstGeom prst="roundRect">
            <a:avLst>
              <a:gd name="adj" fmla="val 203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129844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estimada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5936" y="1600200"/>
            <a:ext cx="244144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completa: ~2 horas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módulo: 5 a 15 minutos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módulos  •  32 funcionalidades  •  Disponível 24h via browser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dos Módulos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1207008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0700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039112" y="1207008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20700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39896" y="1207008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120700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Dem. Avulsas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40680" y="1207008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120700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41464" y="1207008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1207008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Serralheria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8328" y="1810512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81051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Chicotes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39112" y="1810512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181051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739896" y="1810512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03904" y="181051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40680" y="1810512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181051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Almoxarifado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41464" y="1810512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181051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8328" y="2414016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414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Ctrl. Qual.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039112" y="2414016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2414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39896" y="2414016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03904" y="2414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Vistorias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40680" y="2414016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04688" y="2414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41464" y="2414016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05472" y="2414016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8328" y="3017520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301752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Kanban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039112" y="3017520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03120" y="301752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Contatos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739896" y="3017520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03904" y="301752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40680" y="3017520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301752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Licitações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141464" y="3017520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05472" y="3017520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50" dirty="0"/>
          </a:p>
        </p:txBody>
      </p:sp>
      <p:sp>
        <p:nvSpPr>
          <p:cNvPr id="46" name="Shape 46"/>
          <p:cNvSpPr/>
          <p:nvPr/>
        </p:nvSpPr>
        <p:spPr>
          <a:xfrm>
            <a:off x="338328" y="3621024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7"/>
          <p:cNvSpPr/>
          <p:nvPr/>
        </p:nvSpPr>
        <p:spPr>
          <a:xfrm>
            <a:off x="402336" y="3621024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50" dirty="0"/>
          </a:p>
        </p:txBody>
      </p:sp>
      <p:sp>
        <p:nvSpPr>
          <p:cNvPr id="48" name="Shape 48"/>
          <p:cNvSpPr/>
          <p:nvPr/>
        </p:nvSpPr>
        <p:spPr>
          <a:xfrm>
            <a:off x="2039112" y="3621024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9"/>
          <p:cNvSpPr/>
          <p:nvPr/>
        </p:nvSpPr>
        <p:spPr>
          <a:xfrm>
            <a:off x="2103120" y="3621024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150" dirty="0"/>
          </a:p>
        </p:txBody>
      </p:sp>
      <p:sp>
        <p:nvSpPr>
          <p:cNvPr id="50" name="Shape 50"/>
          <p:cNvSpPr/>
          <p:nvPr/>
        </p:nvSpPr>
        <p:spPr>
          <a:xfrm>
            <a:off x="3739896" y="3621024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51"/>
          <p:cNvSpPr/>
          <p:nvPr/>
        </p:nvSpPr>
        <p:spPr>
          <a:xfrm>
            <a:off x="3803904" y="3621024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150" dirty="0"/>
          </a:p>
        </p:txBody>
      </p:sp>
      <p:sp>
        <p:nvSpPr>
          <p:cNvPr id="52" name="Shape 52"/>
          <p:cNvSpPr/>
          <p:nvPr/>
        </p:nvSpPr>
        <p:spPr>
          <a:xfrm>
            <a:off x="5440680" y="3621024"/>
            <a:ext cx="1645920" cy="512064"/>
          </a:xfrm>
          <a:prstGeom prst="roundRect">
            <a:avLst>
              <a:gd name="adj" fmla="val 89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3"/>
          <p:cNvSpPr/>
          <p:nvPr/>
        </p:nvSpPr>
        <p:spPr>
          <a:xfrm>
            <a:off x="5504688" y="3621024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 — ACESSO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Acessando o Sistema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52728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64008" cy="330327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271016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Chrome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1508760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recomendado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22551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22551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2598039"/>
            <a:ext cx="64008" cy="330327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140839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a URL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" y="2378583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spinsc.github.io/ACN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92374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237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3467862"/>
            <a:ext cx="64008" cy="330327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3010662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login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0704" y="3248406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e senha fornecidos pelo Administrador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862197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6219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0704" y="3880485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 módulo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0704" y="4118229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qualquer item do menu lateral esquerdo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da tela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572768"/>
            <a:ext cx="3840480" cy="804672"/>
          </a:xfrm>
          <a:prstGeom prst="roundRect">
            <a:avLst>
              <a:gd name="adj" fmla="val 681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74336" y="166420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(Header)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74336" y="1965960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ACN, nome do usuário logado, modo escuro, botão Sair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459736"/>
            <a:ext cx="3840480" cy="804672"/>
          </a:xfrm>
          <a:prstGeom prst="roundRect">
            <a:avLst>
              <a:gd name="adj" fmla="val 6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74336" y="255117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Lateral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74336" y="2852928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entre todos os módulos, organizada por área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3346704"/>
            <a:ext cx="3840480" cy="804672"/>
          </a:xfrm>
          <a:prstGeom prst="roundRect">
            <a:avLst>
              <a:gd name="adj" fmla="val 681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343814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Conteúdo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74336" y="3739896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do módulo ativo — ocupa a maior parte da tela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4233672"/>
            <a:ext cx="3840480" cy="804672"/>
          </a:xfrm>
          <a:prstGeom prst="roundRect">
            <a:avLst>
              <a:gd name="adj" fmla="val 681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432511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Menu Hambúrguer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74336" y="4626864"/>
            <a:ext cx="35844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celular, o menu aparece ao tocar ☰ no canto superior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365760"/>
            <a:ext cx="3200400" cy="32004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764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COMERCIAL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20574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 Comercial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27632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histórico de demandas comerciais • Menu: Comercial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COMERCIAL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Registrando uma Nova Demanda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52728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64008" cy="15636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271016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"+ Nova OP"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1508760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verde no canto superior direito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48586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4858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2424074"/>
            <a:ext cx="64008" cy="15636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1966874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tipo de projeto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" y="220461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Transf. Veicular Discreta/Ostensiva, Manutenção…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44445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4444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3119933"/>
            <a:ext cx="64008" cy="15636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2662733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chassi ou n° 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0704" y="2900477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do projeto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340303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40303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3815791"/>
            <a:ext cx="64008" cy="15636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3358591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operador e prazo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" y="3596335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e data prevista de entrega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036162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3616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0704" y="4054450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0704" y="4292194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criada → Status inicial: Em Espera Engenharia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projeto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157276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59105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Espera Engenharia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157276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159105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Almox.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02996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04825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58000" y="202996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04825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Faturamento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48716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50545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58000" y="2487168"/>
            <a:ext cx="1828800" cy="347472"/>
          </a:xfrm>
          <a:prstGeom prst="roundRect">
            <a:avLst>
              <a:gd name="adj" fmla="val 1052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250545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COMERCIAL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Histórico de Projetos e Filtros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livre em TODOS os campos: OPL, chassi, cliente, modelo, status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tipo de projeto (Transformação / Manutenção)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operador responsável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intervalo de datas de entrada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ATRASO vs. prazo em tempo real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direto à proposta comercial (PDF/OneNote)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ou visualizar detalhes de qualquer OPL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da tabela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57276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819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12280" y="157276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5819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 / N° 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93852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94767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93852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94767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30428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3134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Projeto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230428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31343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67004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67919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Prev. Entrega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267004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67919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03580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0449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303580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304495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401568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41071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/ Ver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365760"/>
            <a:ext cx="3200400" cy="32004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764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ENGENHARIA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20574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e Demandas Avulsas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27632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OPLs • BOM • Kit • Demandas internas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ENGENHARIA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Engenharia por OPL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52728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64008" cy="15636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271016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OPL da Comercial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1508760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Em Espera Engenharia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948586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4858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2424074"/>
            <a:ext cx="64008" cy="15636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1966874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o BOM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" y="2204618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completa de materiais e componentes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44445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44445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3119933"/>
            <a:ext cx="64008" cy="15636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2662733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Kit ao Almoxarifado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0704" y="2900477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Almox. separa e disponibiliza os itens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340303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40303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3815791"/>
            <a:ext cx="64008" cy="15636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3358591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para Produção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0704" y="3596335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muda para Em Produção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036162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3616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0704" y="4054450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etapas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0704" y="4292194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visual em % por etapa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1207008"/>
            <a:ext cx="3840480" cy="896112"/>
          </a:xfrm>
          <a:prstGeom prst="roundRect">
            <a:avLst>
              <a:gd name="adj" fmla="val 612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12984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Completo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74336" y="1600200"/>
            <a:ext cx="35844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materiais com qtd., fornecedor e custo por item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2194560"/>
            <a:ext cx="3840480" cy="896112"/>
          </a:xfrm>
          <a:prstGeom prst="roundRect">
            <a:avLst>
              <a:gd name="adj" fmla="val 612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228600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Configuráveis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74336" y="2587752"/>
            <a:ext cx="35844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as etapas específicas para cada tipo de projeto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182112"/>
            <a:ext cx="3840480" cy="896112"/>
          </a:xfrm>
          <a:prstGeom prst="roundRect">
            <a:avLst>
              <a:gd name="adj" fmla="val 612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74336" y="327355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Prazo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74336" y="3575304"/>
            <a:ext cx="35844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muda de cor quando o prazo está próximo ou vencido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4169664"/>
            <a:ext cx="3840480" cy="896112"/>
          </a:xfrm>
          <a:prstGeom prst="roundRect">
            <a:avLst>
              <a:gd name="adj" fmla="val 612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74336" y="42611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Técnicos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74336" y="4562856"/>
            <a:ext cx="35844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plantas e desenhos técnicos vinculados à OPL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ENGENHARIA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 Demandas Avulsas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internas da equipe de Engenharia que não estão vinculadas a uma OPL específica — serviços internos, melhorias, estudos técnicos e adaptações.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310896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 Execução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" y="341071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em etapas e acompanhe o % de conclusão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301752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310896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com Alerta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28616" y="341071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muda de cor quando prazo está próximo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416052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 por Etapa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" y="446227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o que foi feito em cada passo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406908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416052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e Evidências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28616" y="4462272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e documentos vinculados por demanda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1536192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5361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011680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011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2487168"/>
            <a:ext cx="2286000" cy="41148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365760"/>
            <a:ext cx="3200400" cy="32004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764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PRODUÇÃO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20574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PCP e Setores Produtivos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27632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 • Serralheria • Chicotes • Laboratório • Produção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PCP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PCP — Planejamento e Controle da Produção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consolidada de todas as OPLs liberadas para produção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Sequenciamento e priorização da fila de produção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gargalo e tempo parado por setor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da demanda comercial à capacidade produtiva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prazo para priorização automática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desempenho produtivo por período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463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planejamento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572768"/>
            <a:ext cx="3840480" cy="576072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572768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Demanda Comercial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240280"/>
            <a:ext cx="3840480" cy="576072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2240280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Engenharia (BOM)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907792"/>
            <a:ext cx="3840480" cy="576072"/>
          </a:xfrm>
          <a:prstGeom prst="roundRect">
            <a:avLst>
              <a:gd name="adj" fmla="val 9524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2907792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PCP (Sequenciamento)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575304"/>
            <a:ext cx="3840480" cy="576072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3575304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Produção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4242816"/>
            <a:ext cx="3840480" cy="576072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4242816"/>
            <a:ext cx="3657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Entrega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PRODUÇÃO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Serralheria e Chicotes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Serralheria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de estrutura e solda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materiais metálicos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Pendente › Em Andamento › Concluído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horas por tarefa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à OPL principal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Chicotes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de chicotes elétricos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componentes por OPL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de cada lote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de qualidade integrada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produção por peça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PRODUÇÃO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Produção e Laboratório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— Linha de Montagem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OPLs liberadas pela Engenharia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Avanço de etapas: instalação, fiação, acabamento…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técnico responsável por etapa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Data/hora de início e conclusão de cada passo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Bloqueios e ocorrências com causa e duração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concluir → vai automaticamente ao CQ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calibrações de equipamentos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por chassi e OPL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Laudos técnicos de aprovação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validade de calibrações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por equipamento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365760"/>
            <a:ext cx="3200400" cy="32004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764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À PRODUÇÃO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20574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Compras, Almoxarifado e Qualidade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27632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• Almoxarifado • CQ • Logística • Vistorias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SUPORTE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 e Almoxarifado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material vinculada à OPL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gestor antes da compra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Cotação e negociação com fornecedores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Pendente › Aprovado › Comprado › Recebido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por fornecedor e material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Almoxarifado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entradas e saídas de materiais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de Kit por OPL (item a item)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de estoque em tempo real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estoque mínimo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completa da peça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QUALIDADE E ENTREGA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de Qualidade e Logística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de Qualidade (CQ)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OPL ao fim da linha de montagem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configurável por tipo de projeto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/ Reprovado / Retrabalho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fotográficas por ponto de inspeção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gerado automaticamente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→ vai para Logística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 In/Out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chegada do veículo, conferência do chassi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confirmação CQ + agendamento de entrega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 de entrada e saída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NF vinculada à OPL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entrega ao cliente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ENTREGA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Vistorias de Pátio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1600200"/>
            <a:ext cx="79735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Vistorias de Pátio registram o estado físico dos veículos na entrada e saída da planta, com fotos e observações. Serve como prova de condição pré e pós-serviço, protegendo a empresa de disputas sobre danos.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49424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34086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fotográfico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" y="2642616"/>
            <a:ext cx="24414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por ângulo (frente, laterais, traseira, interior)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2249424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234086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danos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65576" y="2642616"/>
            <a:ext cx="24414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e descreva avarias pré-existentes no veículo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2249424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340864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digital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45936" y="2642616"/>
            <a:ext cx="24414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confirma a condição de entrada ou saída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602736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por chassi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" y="3904488"/>
            <a:ext cx="24414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vistorias anteriores de qualquer veículo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3511296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5576" y="3602736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à OPL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65576" y="3904488"/>
            <a:ext cx="24414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vistoria rastreada ao projeto correspondente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3511296"/>
            <a:ext cx="2697480" cy="1170432"/>
          </a:xfrm>
          <a:prstGeom prst="roundRect">
            <a:avLst>
              <a:gd name="adj" fmla="val 468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3602736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exportável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5936" y="3904488"/>
            <a:ext cx="24414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com fotos e observações para arquivo e e-mail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365760"/>
            <a:ext cx="3200400" cy="32004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764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E VENDAS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20574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e CRM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27632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• CRM Funil • CRM Contatos • WhatsApp • Licitações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SAC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— Atendimento ao Cliente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Manutenção em Garantia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dentro do prazo de garantia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aberta sem custo ao cliente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e mão de obra pela ACN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garantia para o fabricante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do defeito por chassi/OPL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de Garantia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fora do prazo ou escopo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Cotação enviada e aprovada antes do serviço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responsável designado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NF ao concluir o serviço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vinculado ao veículo e cliente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CRM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— Funil de Vendas (Kanban)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1627632" cy="384048"/>
          </a:xfrm>
          <a:prstGeom prst="roundRect">
            <a:avLst>
              <a:gd name="adj" fmla="val 11905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Prospecção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82496"/>
            <a:ext cx="1627632" cy="658368"/>
          </a:xfrm>
          <a:prstGeom prst="roundRect">
            <a:avLst>
              <a:gd name="adj" fmla="val 6944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0992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R$ 45.000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432304"/>
            <a:ext cx="1627632" cy="658368"/>
          </a:xfrm>
          <a:prstGeom prst="roundRect">
            <a:avLst>
              <a:gd name="adj" fmla="val 6944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459736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R$ 18.000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29968" y="1207008"/>
            <a:ext cx="1627632" cy="384048"/>
          </a:xfrm>
          <a:prstGeom prst="roundRect">
            <a:avLst>
              <a:gd name="adj" fmla="val 11905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75688" y="1207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Qualificação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29968" y="1682496"/>
            <a:ext cx="1627632" cy="658368"/>
          </a:xfrm>
          <a:prstGeom prst="roundRect">
            <a:avLst>
              <a:gd name="adj" fmla="val 6944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170992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R$ 22.000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29968" y="2432304"/>
            <a:ext cx="1627632" cy="658368"/>
          </a:xfrm>
          <a:prstGeom prst="roundRect">
            <a:avLst>
              <a:gd name="adj" fmla="val 6944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459736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R$ 55.000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85616" y="1207008"/>
            <a:ext cx="1627632" cy="384048"/>
          </a:xfrm>
          <a:prstGeom prst="roundRect">
            <a:avLst>
              <a:gd name="adj" fmla="val 119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31336" y="1207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85616" y="1682496"/>
            <a:ext cx="1627632" cy="658368"/>
          </a:xfrm>
          <a:prstGeom prst="roundRect">
            <a:avLst>
              <a:gd name="adj" fmla="val 6944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170992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R$ 68.000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85616" y="2432304"/>
            <a:ext cx="1627632" cy="658368"/>
          </a:xfrm>
          <a:prstGeom prst="roundRect">
            <a:avLst>
              <a:gd name="adj" fmla="val 6944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2459736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R$ 12.000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41264" y="1207008"/>
            <a:ext cx="1627632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86984" y="1207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41264" y="1682496"/>
            <a:ext cx="1627632" cy="658368"/>
          </a:xfrm>
          <a:prstGeom prst="roundRect">
            <a:avLst>
              <a:gd name="adj" fmla="val 6944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14416" y="170992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R$ 31.000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96912" y="1207008"/>
            <a:ext cx="1627632" cy="384048"/>
          </a:xfrm>
          <a:prstGeom prst="roundRect">
            <a:avLst>
              <a:gd name="adj" fmla="val 11905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42632" y="1207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96912" y="1682496"/>
            <a:ext cx="1627632" cy="658368"/>
          </a:xfrm>
          <a:prstGeom prst="roundRect">
            <a:avLst>
              <a:gd name="adj" fmla="val 6944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0064" y="1709928"/>
            <a:ext cx="1481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R$ 90.000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do Funil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566160"/>
            <a:ext cx="1627632" cy="530352"/>
          </a:xfrm>
          <a:prstGeom prst="roundRect">
            <a:avLst>
              <a:gd name="adj" fmla="val 689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5661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Arraste entre estágios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29968" y="3566160"/>
            <a:ext cx="1627632" cy="530352"/>
          </a:xfrm>
          <a:prstGeom prst="roundRect">
            <a:avLst>
              <a:gd name="adj" fmla="val 689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0" y="35661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avanço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85616" y="3566160"/>
            <a:ext cx="1627632" cy="530352"/>
          </a:xfrm>
          <a:prstGeom prst="roundRect">
            <a:avLst>
              <a:gd name="adj" fmla="val 689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58768" y="35661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a clientes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41264" y="3566160"/>
            <a:ext cx="1627632" cy="530352"/>
          </a:xfrm>
          <a:prstGeom prst="roundRect">
            <a:avLst>
              <a:gd name="adj" fmla="val 689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14416" y="35661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interações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96912" y="3566160"/>
            <a:ext cx="1627632" cy="530352"/>
          </a:xfrm>
          <a:prstGeom prst="roundRect">
            <a:avLst>
              <a:gd name="adj" fmla="val 689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70064" y="3566160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CRM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— Contatos e Histórico de Interações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completo: nome, telefones, e-mails, empresa, cargo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todas as interações por contato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ligação, e-mail, reunião, visita, documento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Transcrição automática de áudios via IA (Whisper/OpenAI)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de WhatsApp integradas por contato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Vinculação a oportunidades do funil CRM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nome, empresa, telefone ou e-mail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Interação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572768"/>
            <a:ext cx="1828800" cy="530352"/>
          </a:xfrm>
          <a:prstGeom prst="roundRect">
            <a:avLst>
              <a:gd name="adj" fmla="val 862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7276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Ligacao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12280" y="1572768"/>
            <a:ext cx="1828800" cy="530352"/>
          </a:xfrm>
          <a:prstGeom prst="roundRect">
            <a:avLst>
              <a:gd name="adj" fmla="val 8621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572768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185416"/>
            <a:ext cx="1828800" cy="530352"/>
          </a:xfrm>
          <a:prstGeom prst="roundRect">
            <a:avLst>
              <a:gd name="adj" fmla="val 862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8541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Reuniao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2185416"/>
            <a:ext cx="1828800" cy="530352"/>
          </a:xfrm>
          <a:prstGeom prst="roundRect">
            <a:avLst>
              <a:gd name="adj" fmla="val 862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18541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798064"/>
            <a:ext cx="1828800" cy="530352"/>
          </a:xfrm>
          <a:prstGeom prst="roundRect">
            <a:avLst>
              <a:gd name="adj" fmla="val 8621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79806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2798064"/>
            <a:ext cx="1828800" cy="530352"/>
          </a:xfrm>
          <a:prstGeom prst="roundRect">
            <a:avLst>
              <a:gd name="adj" fmla="val 8621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79806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(IA)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CRM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— Integração e Notificações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1600200"/>
            <a:ext cx="7973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usa Evolution API para envio e recebimento de mensagens WhatsApp. As mensagens chegam via webhook, são salvas no banco de dados e aparecem em tempo real no CRM, com badge de notificação pulsante para mensagens não lidas.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58568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58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734056"/>
            <a:ext cx="64008" cy="78867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276856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Evolution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" y="2514600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do servidor e API Key em CRM › Configurações WhatsApp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876931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76931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" y="3352419"/>
            <a:ext cx="64008" cy="78867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2895219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 QR Code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0704" y="3132963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no celular › Configurações › Dispositivos Vinculados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95294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9529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" y="3970782"/>
            <a:ext cx="64008" cy="78867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3513582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mensagens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0704" y="3751326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vermelho pulsante aparece no menu e no card do contato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113657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1365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60704" y="4131945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conversa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60704" y="4369689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› Contatos › selecione o contato › aba WhatsApp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212848"/>
            <a:ext cx="3840480" cy="676656"/>
          </a:xfrm>
          <a:prstGeom prst="roundRect">
            <a:avLst>
              <a:gd name="adj" fmla="val 810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230428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Multi-instância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74336" y="2606040"/>
            <a:ext cx="3584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vendedores conectados com números diferentes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962656"/>
            <a:ext cx="3840480" cy="676656"/>
          </a:xfrm>
          <a:prstGeom prst="roundRect">
            <a:avLst>
              <a:gd name="adj" fmla="val 810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3054096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em tempo real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74336" y="3355848"/>
            <a:ext cx="3584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mensagens nao lidas no menu lateral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712464"/>
            <a:ext cx="3840480" cy="676656"/>
          </a:xfrm>
          <a:prstGeom prst="roundRect">
            <a:avLst>
              <a:gd name="adj" fmla="val 8108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3803904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Notificacao SAC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74336" y="4105656"/>
            <a:ext cx="3584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de suporte criam OS no SAC automaticamente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4462272"/>
            <a:ext cx="3840480" cy="676656"/>
          </a:xfrm>
          <a:prstGeom prst="roundRect">
            <a:avLst>
              <a:gd name="adj" fmla="val 810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455371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por contato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74336" y="4855464"/>
            <a:ext cx="3584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conversas salvas e pesquisaveis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CRM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Licitações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oportunidades de licitacao publica e privada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Etapas: Prospeccao › Analise › Proposta › Ganhou / Perdeu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prazos de edital e entrega de propostas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Documentacao vinculada: editais, certidoes, habilitacoes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de licitacoes por cliente e orgao publico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 de taxa de sucesso em licitacoes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46320" y="1207008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4336" y="129844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Kanban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74336" y="1600200"/>
            <a:ext cx="35844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 em funil das oportunidades abertas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2212848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230428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Prazo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74336" y="2606040"/>
            <a:ext cx="35844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quando o prazo do edital esta proximo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3218688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331012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74336" y="3611880"/>
            <a:ext cx="35844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Anexe editais, contratos e documentos de habilitacao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4224528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43159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Competitiva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74336" y="4617720"/>
            <a:ext cx="35844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concorrentes e valores praticados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365760"/>
            <a:ext cx="3200400" cy="32004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764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GESTAO E FINANCEIRO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20574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Fiscal, RH e Relatorios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27632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• RH • Relatorios • Admin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FISCAL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 — Notas Fiscais e Vouchers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Fiscais (NF)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Emissao de NF vinculada a OPL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NFs pendentes e emitidas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NF vs. proposta comercial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com Logistica (saida do veiculo)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de faturamento por periodo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Vouchers de Servico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755648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 para servicos de terceiros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do servico com valor unitario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consolidado por voucher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 e autorizador registrados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servico cadastrados pelo Admin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49884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4590288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" y="4892040"/>
            <a:ext cx="7973568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servico para Voucher sao cadastrados em Admin › Tipos de Servico. Configure antes de emitir os primeiros vouchers.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 — Cadastro de Colaboradores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Funcionarios CLT e Terceiros / PJ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pessoais: CPF, telefone, endereço, email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fixo e beneficios (funcionarios)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servico e CNPJ (terceiros)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Configuracao de comissao: percentual e base de calculo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de selecao em toda a plataforma (operador, tecnico...)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 permissoes de acesso ao sistema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Colaborador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572768"/>
            <a:ext cx="3840480" cy="1737360"/>
          </a:xfrm>
          <a:prstGeom prst="roundRect">
            <a:avLst>
              <a:gd name="adj" fmla="val 368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6048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Funcionario CLT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56048" y="2011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fixo registrado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vinculados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obrigatorio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Ferias e ponto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401568"/>
            <a:ext cx="3840480" cy="1737360"/>
          </a:xfrm>
          <a:prstGeom prst="roundRect">
            <a:avLst>
              <a:gd name="adj" fmla="val 368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Terceiro / PJ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56048" y="38404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e razao social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por servico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Comissao configuravel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anexos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RELATORIOS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Relatorios e Indicadores de Desempenho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2697480" cy="1298448"/>
          </a:xfrm>
          <a:prstGeom prst="roundRect">
            <a:avLst>
              <a:gd name="adj" fmla="val 422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9844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Producao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160020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OPLs abertas, em andamento e concluidas por periodo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207008"/>
            <a:ext cx="2697480" cy="1298448"/>
          </a:xfrm>
          <a:prstGeom prst="roundRect">
            <a:avLst>
              <a:gd name="adj" fmla="val 422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5576" y="129844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e Atraso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65576" y="160020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entrega no prazo vs. atrasadas por setor e operador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207008"/>
            <a:ext cx="2697480" cy="1298448"/>
          </a:xfrm>
          <a:prstGeom prst="roundRect">
            <a:avLst>
              <a:gd name="adj" fmla="val 422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129844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 e Qualidade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5936" y="1600200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aprovacao na 1a inspecao (FPY) e retrabalhos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2697480" cy="1298448"/>
          </a:xfrm>
          <a:prstGeom prst="roundRect">
            <a:avLst>
              <a:gd name="adj" fmla="val 422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688336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 Conversao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" y="299008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fechamento de oportunidades no funil de vendas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37560" y="2596896"/>
            <a:ext cx="2697480" cy="1298448"/>
          </a:xfrm>
          <a:prstGeom prst="roundRect">
            <a:avLst>
              <a:gd name="adj" fmla="val 422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5576" y="2688336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e Atendimento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65576" y="299008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abertas, tempo medio de resolucao, satisfacao do cliente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596896"/>
            <a:ext cx="2697480" cy="1298448"/>
          </a:xfrm>
          <a:prstGeom prst="roundRect">
            <a:avLst>
              <a:gd name="adj" fmla="val 4225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2688336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45936" y="2990088"/>
            <a:ext cx="244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por periodo, NFs emitidas, valor medio de OS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ADMIN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Administracao e Perfis de Acesso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52728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64008" cy="330327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271016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usuario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0704" y="1508760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e-mail, senha e perfil de acesso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22551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22551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2598039"/>
            <a:ext cx="64008" cy="330327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140839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perfil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0704" y="2378583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Comercial, Engenharia, CRM, Gerente...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92374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9237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" y="3467862"/>
            <a:ext cx="64008" cy="330327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3010662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permissoes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0704" y="3248406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modulos cada perfil pode ver e editar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862197"/>
            <a:ext cx="475488" cy="47548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62197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0704" y="3880485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ou desativar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0704" y="4118229"/>
            <a:ext cx="3502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podem ser desativados sem excluir historico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disponiveis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572768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58191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(acesso total)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572768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158191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002536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01168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0" y="2002536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31152" y="201168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432304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4414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Producao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58000" y="2432304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24414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Qualidade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2862072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287121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58000" y="2862072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287121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291840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30098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58000" y="3291840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31152" y="330098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Vendas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3721608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373075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Comercial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858000" y="3721608"/>
            <a:ext cx="1874520" cy="347472"/>
          </a:xfrm>
          <a:prstGeom prst="roundRect">
            <a:avLst>
              <a:gd name="adj" fmla="val 1052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31152" y="373075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365760"/>
            <a:ext cx="3200400" cy="32004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960120" cy="9601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27632" y="1764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ESPECIAIS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27632" y="20574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Extras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27632" y="29718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Escuro • Acesso Mobile • Lixeira • Segurança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ESPECIAIS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Escuro, Mobile e Recuperacao de Dados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07008"/>
            <a:ext cx="4023360" cy="1792224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Escuro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8249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Alterne pelo icone no cabecalho. Preferencia salva automaticamente por usuario.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4023360" cy="1792224"/>
          </a:xfrm>
          <a:prstGeom prst="roundRect">
            <a:avLst>
              <a:gd name="adj" fmla="val 408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pelo Celular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82496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responsiva: menu lateral vira gaveta lateral (hamburger). Funciona em qualquer smartphone sem instalar app.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023360" cy="1792224"/>
          </a:xfrm>
          <a:prstGeom prst="roundRect">
            <a:avLst>
              <a:gd name="adj" fmla="val 408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00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Lixeira — Recuperacao em 24h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58444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deletados ficam 24h na lixeira antes da exclusao permanente. Qualquer admin pode restaurar.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3108960"/>
            <a:ext cx="4023360" cy="1792224"/>
          </a:xfrm>
          <a:prstGeom prst="roundRect">
            <a:avLst>
              <a:gd name="adj" fmla="val 4082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200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Seguranca e Perfis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58444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acessa somente os modulos do seu perfil. Senhas gerenciadas pelo Admin — nunca compartilhe credenciais.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645920"/>
            <a:ext cx="5029200" cy="5029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365760"/>
            <a:ext cx="3200400" cy="32004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Acesse o sistema agora: spinsc.github.io/ACN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Solicite seu login ao Administrador do sistema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Explore o modulo do seu setor primeiro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Em caso de duvidas, consulte o Manual PDF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Relate problemas ao responsavel pelo sistema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7772400" cy="841248"/>
          </a:xfrm>
          <a:prstGeom prst="roundRect">
            <a:avLst>
              <a:gd name="adj" fmla="val 760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0480"/>
            <a:ext cx="7589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ACN Sinal Verde  •  spinsc.github.io/ACN  •  Suporte: fale com o Admin do sistema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Module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50" b="1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PRODUÇÃO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Equipes, Dupla e Execução Compartilhada</a:t>
            </a:r>
            <a:endParaRPr lang="pt-BR" sz="3000" dirty="0"/>
          </a:p>
        </p:txBody>
      </p:sp>
      <p:sp>
        <p:nvSpPr>
          <p:cNvPr id="5" name="Sep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noFill/>
          <a:ln w="12700">
            <a:solidFill>
              <a:srgbClr val="DCFCE7"/>
            </a:solidFill>
            <a:prstDash val="solid"/>
          </a:ln>
        </p:spPr>
      </p:sp>
      <p:sp>
        <p:nvSpPr>
          <p:cNvPr id="6" name="Box6"/>
          <p:cNvSpPr/>
          <p:nvPr/>
        </p:nvSpPr>
        <p:spPr>
          <a:xfrm>
            <a:off x="45720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DCFCE7"/>
            </a:solidFill>
            <a:prstDash val="solid"/>
          </a:ln>
        </p:spPr>
      </p:sp>
      <p:sp>
        <p:nvSpPr>
          <p:cNvPr id="7" name="Hdr6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Execução</a:t>
            </a:r>
            <a:endParaRPr lang="pt-BR" sz="1350" dirty="0"/>
          </a:p>
        </p:txBody>
      </p:sp>
      <p:sp>
        <p:nvSpPr>
          <p:cNvPr id="8" name="Blt6"/>
          <p:cNvSpPr/>
          <p:nvPr/>
        </p:nvSpPr>
        <p:spPr>
          <a:xfrm>
            <a:off x="59436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Individual: 1 técnico registrado ao iniciar a OP.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Dupla: 2 técnicos — ambos computam comissão.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grupo cadastrado, Head Line é o responsável principal.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modo pode ser alterado após o início com o botão ✏️ RESP.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alteração é registrada no log da OP (usuário + horário).</a:t>
            </a:r>
            <a:endParaRPr lang="pt-BR" sz="1150" dirty="0"/>
          </a:p>
        </p:txBody>
      </p:sp>
      <p:sp>
        <p:nvSpPr>
          <p:cNvPr id="9" name="Box9"/>
          <p:cNvSpPr/>
          <p:nvPr/>
        </p:nvSpPr>
        <p:spPr>
          <a:xfrm>
            <a:off x="466392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F0FDF4"/>
            </a:solidFill>
            <a:prstDash val="solid"/>
          </a:ln>
        </p:spPr>
      </p:sp>
      <p:sp>
        <p:nvSpPr>
          <p:cNvPr id="10" name="Hdr9"/>
          <p:cNvSpPr/>
          <p:nvPr/>
        </p:nvSpPr>
        <p:spPr>
          <a:xfrm>
            <a:off x="480108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Equipes (aba 🏷️)</a:t>
            </a:r>
            <a:endParaRPr lang="pt-BR" sz="1350" dirty="0"/>
          </a:p>
        </p:txBody>
      </p:sp>
      <p:sp>
        <p:nvSpPr>
          <p:cNvPr id="11" name="Blt9"/>
          <p:cNvSpPr/>
          <p:nvPr/>
        </p:nvSpPr>
        <p:spPr>
          <a:xfrm>
            <a:off x="480108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Produção &gt; aba 🏷️ Equipes.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a equipe com nome e Head Line (técnico responsável).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membros: cada membro aparece na OP ao selecionar a equipe.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Head Line é registrado como responsável em todos os relatórios.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ficam disponíveis para todas as OPs futuras.</a:t>
            </a:r>
            <a:endParaRPr lang="pt-BR" sz="1150" dirty="0"/>
          </a:p>
        </p:txBody>
      </p:sp>
      <p:sp>
        <p:nvSpPr>
          <p:cNvPr id="12" name="Note12"/>
          <p:cNvSpPr/>
          <p:nvPr/>
        </p:nvSpPr>
        <p:spPr>
          <a:xfrm>
            <a:off x="457200" y="4700736"/>
            <a:ext cx="8229600" cy="30000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EFF6FF"/>
            </a:solidFill>
            <a:prstDash val="solid"/>
          </a:ln>
        </p:spPr>
      </p:sp>
      <p:sp>
        <p:nvSpPr>
          <p:cNvPr id="13" name="NoteT12"/>
          <p:cNvSpPr/>
          <p:nvPr/>
        </p:nvSpPr>
        <p:spPr>
          <a:xfrm>
            <a:off x="594360" y="4792176"/>
            <a:ext cx="7955280" cy="1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b="1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VER  — disponível em todas as OPs</a:t>
            </a:r>
            <a:endParaRPr lang="pt-BR" sz="950" dirty="0"/>
          </a:p>
          <a:p>
            <a:pPr indent="0" marL="0">
              <a:buNone/>
            </a:pPr>
            <a:r>
              <a:rPr lang="pt-BR" sz="10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VER em qualquer linha da tabela de produção para ver todos os detalhes: modo, responsáveis, prazos, observações e retrabalhos.</a:t>
            </a:r>
            <a:endParaRPr lang="pt-BR" sz="1050" dirty="0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Module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50" b="1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SUPORTE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— Centro de Custo</a:t>
            </a:r>
            <a:endParaRPr lang="pt-BR" sz="3000" dirty="0"/>
          </a:p>
        </p:txBody>
      </p:sp>
      <p:sp>
        <p:nvSpPr>
          <p:cNvPr id="5" name="Sep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noFill/>
          <a:ln w="12700">
            <a:solidFill>
              <a:srgbClr val="FEF3C7"/>
            </a:solidFill>
            <a:prstDash val="solid"/>
          </a:ln>
        </p:spPr>
      </p:sp>
      <p:sp>
        <p:nvSpPr>
          <p:cNvPr id="6" name="Box6"/>
          <p:cNvSpPr/>
          <p:nvPr/>
        </p:nvSpPr>
        <p:spPr>
          <a:xfrm>
            <a:off x="45720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FEF3C7"/>
            </a:solidFill>
            <a:prstDash val="solid"/>
          </a:ln>
        </p:spPr>
      </p:sp>
      <p:sp>
        <p:nvSpPr>
          <p:cNvPr id="7" name="Hdr6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Centro de Custo</a:t>
            </a:r>
            <a:endParaRPr lang="pt-BR" sz="1350" dirty="0"/>
          </a:p>
        </p:txBody>
      </p:sp>
      <p:sp>
        <p:nvSpPr>
          <p:cNvPr id="8" name="Blt6"/>
          <p:cNvSpPr/>
          <p:nvPr/>
        </p:nvSpPr>
        <p:spPr>
          <a:xfrm>
            <a:off x="59436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OP/OS: vincula a compra a uma Ordem de Produção existente. Busca por número.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personalizado: seleciona um centro pré-cadastrado (código + nome).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livre: qualquer descrição (ex: Evento, Marketing, Infraestrutura).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🏷️ ou "+ Definir" na coluna Centro de Custo de cada pedido.</a:t>
            </a:r>
            <a:endParaRPr lang="pt-BR" sz="1150" dirty="0"/>
          </a:p>
        </p:txBody>
      </p:sp>
      <p:sp>
        <p:nvSpPr>
          <p:cNvPr id="9" name="Box9"/>
          <p:cNvSpPr/>
          <p:nvPr/>
        </p:nvSpPr>
        <p:spPr>
          <a:xfrm>
            <a:off x="466392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FFFBEB"/>
            </a:solidFill>
            <a:prstDash val="solid"/>
          </a:ln>
        </p:spPr>
      </p:sp>
      <p:sp>
        <p:nvSpPr>
          <p:cNvPr id="10" name="Hdr9"/>
          <p:cNvSpPr/>
          <p:nvPr/>
        </p:nvSpPr>
        <p:spPr>
          <a:xfrm>
            <a:off x="480108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e Reportar</a:t>
            </a:r>
            <a:endParaRPr lang="pt-BR" sz="1350" dirty="0"/>
          </a:p>
        </p:txBody>
      </p:sp>
      <p:sp>
        <p:nvSpPr>
          <p:cNvPr id="11" name="Blt9"/>
          <p:cNvSpPr/>
          <p:nvPr/>
        </p:nvSpPr>
        <p:spPr>
          <a:xfrm>
            <a:off x="480108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⚙️ Centros de Custo no cabeçalho da aba Compras.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centros com código único + nome descritivo.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e exclua centros cadastrados.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em Relatórios &gt; Centro Custo: totais por centro, percentual e drill-down de pedidos.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sem centro definido não aparecem no relatório.</a:t>
            </a:r>
            <a:endParaRPr lang="pt-BR" sz="1150" dirty="0"/>
          </a:p>
        </p:txBody>
      </p:sp>
      <p:sp>
        <p:nvSpPr>
          <p:cNvPr id="12" name="Note12"/>
          <p:cNvSpPr/>
          <p:nvPr/>
        </p:nvSpPr>
        <p:spPr>
          <a:xfrm>
            <a:off x="457200" y="4700736"/>
            <a:ext cx="8229600" cy="30000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FFFBEB"/>
            </a:solidFill>
            <a:prstDash val="solid"/>
          </a:ln>
        </p:spPr>
      </p:sp>
      <p:sp>
        <p:nvSpPr>
          <p:cNvPr id="13" name="NoteT12"/>
          <p:cNvSpPr/>
          <p:nvPr/>
        </p:nvSpPr>
        <p:spPr>
          <a:xfrm>
            <a:off x="594360" y="4792176"/>
            <a:ext cx="7955280" cy="1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b="1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Dica — SQL necessário antes de usar</a:t>
            </a:r>
            <a:endParaRPr lang="pt-BR" sz="950" dirty="0"/>
          </a:p>
          <a:p>
            <a:pPr indent="0" marL="0">
              <a:buNone/>
            </a:pPr>
            <a:r>
              <a:rPr lang="pt-BR" sz="10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 arquivo supabase/sql/centro_custo.sql para criar a tabela centros_custo e a coluna centro_custo em pcp_pedidos_compra.</a:t>
            </a:r>
            <a:endParaRPr lang="pt-BR" sz="1050" dirty="0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Module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50" b="1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ESPECIAIS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Interno e @Menções</a:t>
            </a:r>
            <a:endParaRPr lang="pt-BR" sz="3000" dirty="0"/>
          </a:p>
        </p:txBody>
      </p:sp>
      <p:sp>
        <p:nvSpPr>
          <p:cNvPr id="5" name="Sep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6" name="Box6"/>
          <p:cNvSpPr/>
          <p:nvPr/>
        </p:nvSpPr>
        <p:spPr>
          <a:xfrm>
            <a:off x="45720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7" name="Hdr6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Interno 💬</a:t>
            </a:r>
            <a:endParaRPr lang="pt-BR" sz="1350" dirty="0"/>
          </a:p>
        </p:txBody>
      </p:sp>
      <p:sp>
        <p:nvSpPr>
          <p:cNvPr id="8" name="Blt6"/>
          <p:cNvSpPr/>
          <p:nvPr/>
        </p:nvSpPr>
        <p:spPr>
          <a:xfrm>
            <a:off x="59436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pelo botão 💬 disponível na interface.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Conversas diretas e Grupos — criados pelo próprio usuário, sem canais fixos.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lidas aparecem em negrito na lista, como no WhatsApp.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Formatação: negrito, itálico, sublinhado e tachado nas mensagens.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e 🔗 Compartilhar Processo — abre direto o registro (OP, CRM, Licitação...).</a:t>
            </a:r>
            <a:endParaRPr lang="pt-BR" sz="1150" dirty="0"/>
          </a:p>
        </p:txBody>
      </p:sp>
      <p:sp>
        <p:nvSpPr>
          <p:cNvPr id="9" name="Box9"/>
          <p:cNvSpPr/>
          <p:nvPr/>
        </p:nvSpPr>
        <p:spPr>
          <a:xfrm>
            <a:off x="466392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F0F9FF"/>
            </a:solidFill>
            <a:prstDash val="solid"/>
          </a:ln>
        </p:spPr>
      </p:sp>
      <p:sp>
        <p:nvSpPr>
          <p:cNvPr id="10" name="Hdr9"/>
          <p:cNvSpPr/>
          <p:nvPr/>
        </p:nvSpPr>
        <p:spPr>
          <a:xfrm>
            <a:off x="480108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@Menções nos Campos de Texto</a:t>
            </a:r>
            <a:endParaRPr lang="pt-BR" sz="1350" dirty="0"/>
          </a:p>
        </p:txBody>
      </p:sp>
      <p:sp>
        <p:nvSpPr>
          <p:cNvPr id="11" name="Blt9"/>
          <p:cNvSpPr/>
          <p:nvPr/>
        </p:nvSpPr>
        <p:spPr>
          <a:xfrm>
            <a:off x="480108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@nome em qualquer campo de observações para mencionar um colega.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de colaboradores aparece para seleção rápida.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colega mencionado recebe uma notificação no ícone 🔔 do sistema.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notificação leva diretamente ao contexto (OPL, Compra, CRM, etc.).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em: Compras, OPLs, CRM, Demandas e outros campos.</a:t>
            </a:r>
            <a:endParaRPr lang="pt-BR" sz="1150" dirty="0"/>
          </a:p>
        </p:txBody>
      </p:sp>
      <p:sp>
        <p:nvSpPr>
          <p:cNvPr id="12" name="Note12"/>
          <p:cNvSpPr/>
          <p:nvPr/>
        </p:nvSpPr>
        <p:spPr>
          <a:xfrm>
            <a:off x="457200" y="4700736"/>
            <a:ext cx="8229600" cy="30000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F0F9FF"/>
            </a:solidFill>
            <a:prstDash val="solid"/>
          </a:ln>
        </p:spPr>
      </p:sp>
      <p:sp>
        <p:nvSpPr>
          <p:cNvPr id="13" name="NoteT12"/>
          <p:cNvSpPr/>
          <p:nvPr/>
        </p:nvSpPr>
        <p:spPr>
          <a:xfrm>
            <a:off x="594360" y="4792176"/>
            <a:ext cx="7955280" cy="117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t-BR" sz="950" b="1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Nota — Usuários carregados via paginação</a:t>
            </a:r>
            <a:endParaRPr lang="pt-BR" sz="950" dirty="0"/>
          </a:p>
          <a:p>
            <a:pPr indent="0" marL="0">
              <a:buNone/>
            </a:pPr>
            <a:r>
              <a:rPr lang="pt-BR" sz="10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de @menções busca todos os usuários do sistema via paginação (contorna limite do servidor). Todos os cadastrados aparecem na busca, mesmo com muitos usuários.</a:t>
            </a:r>
            <a:endParaRPr lang="pt-BR" sz="1050" dirty="0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RM Area 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ModLabel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b="1" dirty="0">
                <a:solidFill>
                  <a:srgbClr val="94A3B8"/>
                </a:solidFill>
                <a:latin typeface="Calibri" pitchFamily="34" charset="0"/>
              </a:rPr>
              <a:t>MODULO CRM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4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166534"/>
                </a:solidFill>
                <a:latin typeface="Cambria" pitchFamily="34" charset="0"/>
              </a:rPr>
              <a:t>CRM — Area Livre (Editor de Notas)</a:t>
            </a:r>
            <a:endParaRPr lang="pt-BR" sz="3000" dirty="0"/>
          </a:p>
        </p:txBody>
      </p:sp>
      <p:sp>
        <p:nvSpPr>
          <p:cNvPr id="5" name="Subtitle"/>
          <p:cNvSpPr/>
          <p:nvPr/>
        </p:nvSpPr>
        <p:spPr>
          <a:xfrm>
            <a:off x="457200" y="920000"/>
            <a:ext cx="82296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dirty="0">
                <a:solidFill>
                  <a:srgbClr val="64748B"/>
                </a:solidFill>
                <a:latin typeface="Calibri" pitchFamily="34" charset="0"/>
              </a:rPr>
              <a:t>Espaco exclusivo em cada aba do modal para anotacoes ricas, imagens e links vinculados ao negocio.</a:t>
            </a:r>
            <a:endParaRPr lang="pt-BR" sz="1200" dirty="0"/>
          </a:p>
        </p:txBody>
      </p:sp>
      <p:sp>
        <p:nvSpPr>
          <p:cNvPr id="6" name="C1BG"/>
          <p:cNvSpPr/>
          <p:nvPr/>
        </p:nvSpPr>
        <p:spPr>
          <a:xfrm>
            <a:off x="457200" y="1220000"/>
            <a:ext cx="4024800" cy="181175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7" name="C1Title"/>
          <p:cNvSpPr/>
          <p:nvPr/>
        </p:nvSpPr>
        <p:spPr>
          <a:xfrm>
            <a:off x="557200" y="1320000"/>
            <a:ext cx="3824800" cy="3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166534"/>
                </a:solidFill>
                <a:latin typeface="Calibri" pitchFamily="34" charset="0"/>
              </a:rPr>
              <a:t>✍️ Formatacao de Texto</a:t>
            </a:r>
            <a:endParaRPr lang="pt-BR" sz="1400" dirty="0"/>
          </a:p>
        </p:txBody>
      </p:sp>
      <p:sp>
        <p:nvSpPr>
          <p:cNvPr id="8" name="C1Body"/>
          <p:cNvSpPr/>
          <p:nvPr/>
        </p:nvSpPr>
        <p:spPr>
          <a:xfrm>
            <a:off x="557200" y="1670000"/>
            <a:ext cx="3824800" cy="126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50" dirty="0">
                <a:solidFill>
                  <a:srgbClr val="374151"/>
                </a:solidFill>
                <a:latin typeface="Calibri" pitchFamily="34" charset="0"/>
              </a:rPr>
              <a:t>Negrito (B) e Italico (I) via barra de ferramentas. Formatacao rapida por atalhos do teclado. Texto rico preservado ao salvar.</a:t>
            </a:r>
            <a:endParaRPr lang="pt-BR" sz="1150" dirty="0"/>
          </a:p>
        </p:txBody>
      </p:sp>
      <p:sp>
        <p:nvSpPr>
          <p:cNvPr id="9" name="C2BG"/>
          <p:cNvSpPr/>
          <p:nvPr/>
        </p:nvSpPr>
        <p:spPr>
          <a:xfrm>
            <a:off x="4662000" y="1220000"/>
            <a:ext cx="4024800" cy="181175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" name="C2Title"/>
          <p:cNvSpPr/>
          <p:nvPr/>
        </p:nvSpPr>
        <p:spPr>
          <a:xfrm>
            <a:off x="4762000" y="1320000"/>
            <a:ext cx="3824800" cy="3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1D4ED8"/>
                </a:solidFill>
                <a:latin typeface="Calibri" pitchFamily="34" charset="0"/>
              </a:rPr>
              <a:t>📷 Imagens e Capturas de Tela</a:t>
            </a:r>
            <a:endParaRPr lang="pt-BR" sz="1400" dirty="0"/>
          </a:p>
        </p:txBody>
      </p:sp>
      <p:sp>
        <p:nvSpPr>
          <p:cNvPr id="11" name="C2Body"/>
          <p:cNvSpPr/>
          <p:nvPr/>
        </p:nvSpPr>
        <p:spPr>
          <a:xfrm>
            <a:off x="4762000" y="1670000"/>
            <a:ext cx="3824800" cy="126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50" dirty="0">
                <a:solidFill>
                  <a:srgbClr val="374151"/>
                </a:solidFill>
                <a:latin typeface="Calibri" pitchFamily="34" charset="0"/>
              </a:rPr>
              <a:t>Insira imagens pelo botao 📷 ou cole direto da area de transferencia (Ctrl+V). Suporta prints de tela, fotos e prints de documentos.</a:t>
            </a:r>
            <a:endParaRPr lang="pt-BR" sz="1150" dirty="0"/>
          </a:p>
        </p:txBody>
      </p:sp>
      <p:sp>
        <p:nvSpPr>
          <p:cNvPr id="12" name="C3BG"/>
          <p:cNvSpPr/>
          <p:nvPr/>
        </p:nvSpPr>
        <p:spPr>
          <a:xfrm>
            <a:off x="457200" y="3211750"/>
            <a:ext cx="4024800" cy="1811750"/>
          </a:xfrm>
          <a:prstGeom prst="roundRect">
            <a:avLst>
              <a:gd name="adj" fmla="val 40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3" name="C3Title"/>
          <p:cNvSpPr/>
          <p:nvPr/>
        </p:nvSpPr>
        <p:spPr>
          <a:xfrm>
            <a:off x="557200" y="3311750"/>
            <a:ext cx="3824800" cy="3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D97706"/>
                </a:solidFill>
                <a:latin typeface="Calibri" pitchFamily="34" charset="0"/>
              </a:rPr>
              <a:t>🔗 Links e Referencias</a:t>
            </a:r>
            <a:endParaRPr lang="pt-BR" sz="1400" dirty="0"/>
          </a:p>
        </p:txBody>
      </p:sp>
      <p:sp>
        <p:nvSpPr>
          <p:cNvPr id="14" name="C3Body"/>
          <p:cNvSpPr/>
          <p:nvPr/>
        </p:nvSpPr>
        <p:spPr>
          <a:xfrm>
            <a:off x="557200" y="3661750"/>
            <a:ext cx="3824800" cy="126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50" dirty="0">
                <a:solidFill>
                  <a:srgbClr val="374151"/>
                </a:solidFill>
                <a:latin typeface="Calibri" pitchFamily="34" charset="0"/>
              </a:rPr>
              <a:t>Insira links para documentos externos, propostas ou sistemas. O botao 🔗 abre um campo para digitar a URL e o texto do link.</a:t>
            </a:r>
            <a:endParaRPr lang="pt-BR" sz="1150" dirty="0"/>
          </a:p>
        </p:txBody>
      </p:sp>
      <p:sp>
        <p:nvSpPr>
          <p:cNvPr id="15" name="C4BG"/>
          <p:cNvSpPr/>
          <p:nvPr/>
        </p:nvSpPr>
        <p:spPr>
          <a:xfrm>
            <a:off x="4662000" y="3211750"/>
            <a:ext cx="4024800" cy="1811750"/>
          </a:xfrm>
          <a:prstGeom prst="roundRect">
            <a:avLst>
              <a:gd name="adj" fmla="val 40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6" name="C4Title"/>
          <p:cNvSpPr/>
          <p:nvPr/>
        </p:nvSpPr>
        <p:spPr>
          <a:xfrm>
            <a:off x="4762000" y="3311750"/>
            <a:ext cx="3824800" cy="3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7C3AED"/>
                </a:solidFill>
                <a:latin typeface="Calibri" pitchFamily="34" charset="0"/>
              </a:rPr>
              <a:t>💾 Salvo por Aba e Negocio</a:t>
            </a:r>
            <a:endParaRPr lang="pt-BR" sz="1400" dirty="0"/>
          </a:p>
        </p:txBody>
      </p:sp>
      <p:sp>
        <p:nvSpPr>
          <p:cNvPr id="17" name="C4Body"/>
          <p:cNvSpPr/>
          <p:nvPr/>
        </p:nvSpPr>
        <p:spPr>
          <a:xfrm>
            <a:off x="4762000" y="3661750"/>
            <a:ext cx="3824800" cy="126175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50" dirty="0">
                <a:solidFill>
                  <a:srgbClr val="374151"/>
                </a:solidFill>
                <a:latin typeface="Calibri" pitchFamily="34" charset="0"/>
              </a:rPr>
              <a:t>Cada aba do CRM tem sua propria Area Livre independente. O conteudo e salvo e carregado automaticamente ao reabrir o negocio.</a:t>
            </a:r>
            <a:endParaRPr lang="pt-BR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RM Mod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ModLabel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b="1" dirty="0">
                <a:solidFill>
                  <a:srgbClr val="94A3B8"/>
                </a:solidFill>
                <a:latin typeface="Calibri" pitchFamily="34" charset="0"/>
              </a:rPr>
              <a:t>MODULO CRM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4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166534"/>
                </a:solidFill>
                <a:latin typeface="Cambria" pitchFamily="34" charset="0"/>
              </a:rPr>
              <a:t>CRM — Modal Abrir (📂) e 9 Abas</a:t>
            </a:r>
            <a:endParaRPr lang="pt-BR" sz="3000" dirty="0"/>
          </a:p>
        </p:txBody>
      </p:sp>
      <p:sp>
        <p:nvSpPr>
          <p:cNvPr id="5" name="LeftBG"/>
          <p:cNvSpPr/>
          <p:nvPr/>
        </p:nvSpPr>
        <p:spPr>
          <a:xfrm>
            <a:off x="457200" y="1000000"/>
            <a:ext cx="3200000" cy="4023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LeftTitle"/>
          <p:cNvSpPr/>
          <p:nvPr/>
        </p:nvSpPr>
        <p:spPr>
          <a:xfrm>
            <a:off x="547200" y="1110000"/>
            <a:ext cx="30200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166534"/>
                </a:solidFill>
                <a:latin typeface="Calibri" pitchFamily="34" charset="0"/>
              </a:rPr>
              <a:t>📂 O que e o Modal Abrir</a:t>
            </a:r>
            <a:endParaRPr lang="pt-BR" sz="1400" dirty="0"/>
          </a:p>
        </p:txBody>
      </p:sp>
      <p:sp>
        <p:nvSpPr>
          <p:cNvPr id="7" name="LI7"/>
          <p:cNvSpPr/>
          <p:nvPr/>
        </p:nvSpPr>
        <p:spPr>
          <a:xfrm>
            <a:off x="547200" y="1530000"/>
            <a:ext cx="30200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dirty="0">
                <a:solidFill>
                  <a:srgbClr val="1E293B"/>
                </a:solidFill>
                <a:latin typeface="Calibri" pitchFamily="34" charset="0"/>
              </a:rPr>
              <a:t>Clique em 📂 Abrir em qualquer card do CRM Kanban para abrir o painel completo do negocio.</a:t>
            </a:r>
            <a:endParaRPr lang="pt-BR" sz="1100" dirty="0"/>
          </a:p>
        </p:txBody>
      </p:sp>
      <p:sp>
        <p:nvSpPr>
          <p:cNvPr id="8" name="LI8"/>
          <p:cNvSpPr/>
          <p:nvPr/>
        </p:nvSpPr>
        <p:spPr>
          <a:xfrm>
            <a:off x="547200" y="1910000"/>
            <a:ext cx="30200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dirty="0">
                <a:solidFill>
                  <a:srgbClr val="374151"/>
                </a:solidFill>
                <a:latin typeface="Calibri" pitchFamily="34" charset="0"/>
              </a:rPr>
              <a:t>Layout dividido: formulario de dados a esquerda + abas de historico a direita.</a:t>
            </a:r>
            <a:endParaRPr lang="pt-BR" sz="1100" dirty="0"/>
          </a:p>
        </p:txBody>
      </p:sp>
      <p:sp>
        <p:nvSpPr>
          <p:cNvPr id="9" name="LI9"/>
          <p:cNvSpPr/>
          <p:nvPr/>
        </p:nvSpPr>
        <p:spPr>
          <a:xfrm>
            <a:off x="547200" y="2290000"/>
            <a:ext cx="30200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dirty="0">
                <a:solidFill>
                  <a:srgbClr val="374151"/>
                </a:solidFill>
                <a:latin typeface="Calibri" pitchFamily="34" charset="0"/>
              </a:rPr>
              <a:t>Navegue entre as 9 abas sem fechar o modal.</a:t>
            </a:r>
            <a:endParaRPr lang="pt-BR" sz="1100" dirty="0"/>
          </a:p>
        </p:txBody>
      </p:sp>
      <p:sp>
        <p:nvSpPr>
          <p:cNvPr id="10" name="LI10"/>
          <p:cNvSpPr/>
          <p:nvPr/>
        </p:nvSpPr>
        <p:spPr>
          <a:xfrm>
            <a:off x="547200" y="2670000"/>
            <a:ext cx="30200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dirty="0">
                <a:solidFill>
                  <a:srgbClr val="374151"/>
                </a:solidFill>
                <a:latin typeface="Calibri" pitchFamily="34" charset="0"/>
              </a:rPr>
              <a:t>Todas as informacoes do negocio em uma unica tela.</a:t>
            </a:r>
            <a:endParaRPr lang="pt-BR" sz="1100" dirty="0"/>
          </a:p>
        </p:txBody>
      </p:sp>
      <p:sp>
        <p:nvSpPr>
          <p:cNvPr id="11" name="HlBG"/>
          <p:cNvSpPr/>
          <p:nvPr/>
        </p:nvSpPr>
        <p:spPr>
          <a:xfrm>
            <a:off x="547200" y="4523500"/>
            <a:ext cx="3020000" cy="400000"/>
          </a:xfrm>
          <a:prstGeom prst="roundRect">
            <a:avLst>
              <a:gd name="adj" fmla="val 408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HlTxt"/>
          <p:cNvSpPr/>
          <p:nvPr/>
        </p:nvSpPr>
        <p:spPr>
          <a:xfrm>
            <a:off x="597200" y="4603500"/>
            <a:ext cx="2920000" cy="26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b="1" dirty="0">
                <a:solidFill>
                  <a:srgbClr val="15803D"/>
                </a:solidFill>
                <a:latin typeface="Calibri" pitchFamily="34" charset="0"/>
              </a:rPr>
              <a:t>Atalho: clique duas vezes no card para abrir rapidamente.</a:t>
            </a:r>
            <a:endParaRPr lang="pt-BR" sz="1050" dirty="0"/>
          </a:p>
        </p:txBody>
      </p:sp>
      <p:sp>
        <p:nvSpPr>
          <p:cNvPr id="13" name="RightBG"/>
          <p:cNvSpPr/>
          <p:nvPr/>
        </p:nvSpPr>
        <p:spPr>
          <a:xfrm>
            <a:off x="3857200" y="1000000"/>
            <a:ext cx="4829600" cy="4023500"/>
          </a:xfrm>
          <a:prstGeom prst="roundRect">
            <a:avLst>
              <a:gd name="adj" fmla="val 4082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RightTitle"/>
          <p:cNvSpPr/>
          <p:nvPr/>
        </p:nvSpPr>
        <p:spPr>
          <a:xfrm>
            <a:off x="3947200" y="1110000"/>
            <a:ext cx="4649600" cy="3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0369A1"/>
                </a:solidFill>
                <a:latin typeface="Calibri" pitchFamily="34" charset="0"/>
              </a:rPr>
              <a:t>9 Abas disponiveis no painel direito</a:t>
            </a:r>
            <a:endParaRPr lang="pt-BR" sz="1400" dirty="0"/>
          </a:p>
        </p:txBody>
      </p:sp>
      <p:sp>
        <p:nvSpPr>
          <p:cNvPr id="15" name="Tab0BG"/>
          <p:cNvSpPr/>
          <p:nvPr/>
        </p:nvSpPr>
        <p:spPr>
          <a:xfrm>
            <a:off x="3947200" y="1500000"/>
            <a:ext cx="1496533" cy="108450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6" name="Tab0Name"/>
          <p:cNvSpPr/>
          <p:nvPr/>
        </p:nvSpPr>
        <p:spPr>
          <a:xfrm>
            <a:off x="4007200" y="1560000"/>
            <a:ext cx="1376533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D4ED8"/>
                </a:solidFill>
                <a:latin typeface="Calibri" pitchFamily="34" charset="0"/>
              </a:rPr>
              <a:t>📋 Andamento</a:t>
            </a:r>
            <a:endParaRPr lang="pt-BR" sz="1100" dirty="0"/>
          </a:p>
        </p:txBody>
      </p:sp>
      <p:sp>
        <p:nvSpPr>
          <p:cNvPr id="17" name="Tab0Desc"/>
          <p:cNvSpPr/>
          <p:nvPr/>
        </p:nvSpPr>
        <p:spPr>
          <a:xfrm>
            <a:off x="4007200" y="1810000"/>
            <a:ext cx="1376533" cy="70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475569"/>
                </a:solidFill>
                <a:latin typeface="Calibri" pitchFamily="34" charset="0"/>
              </a:rPr>
              <a:t>Timeline e status do negocio</a:t>
            </a:r>
            <a:endParaRPr lang="pt-BR" sz="950" dirty="0"/>
          </a:p>
        </p:txBody>
      </p:sp>
      <p:sp>
        <p:nvSpPr>
          <p:cNvPr id="18" name="Tab1BG"/>
          <p:cNvSpPr/>
          <p:nvPr/>
        </p:nvSpPr>
        <p:spPr>
          <a:xfrm>
            <a:off x="5523733" y="1500000"/>
            <a:ext cx="1496533" cy="1084500"/>
          </a:xfrm>
          <a:prstGeom prst="roundRect">
            <a:avLst>
              <a:gd name="adj" fmla="val 4082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19" name="Tab1Name"/>
          <p:cNvSpPr/>
          <p:nvPr/>
        </p:nvSpPr>
        <p:spPr>
          <a:xfrm>
            <a:off x="5583733" y="1560000"/>
            <a:ext cx="1376533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CA8A04"/>
                </a:solidFill>
                <a:latin typeface="Calibri" pitchFamily="34" charset="0"/>
              </a:rPr>
              <a:t>⚖️ Processo</a:t>
            </a:r>
            <a:endParaRPr lang="pt-BR" sz="1100" dirty="0"/>
          </a:p>
        </p:txBody>
      </p:sp>
      <p:sp>
        <p:nvSpPr>
          <p:cNvPr id="20" name="Tab1Desc"/>
          <p:cNvSpPr/>
          <p:nvPr/>
        </p:nvSpPr>
        <p:spPr>
          <a:xfrm>
            <a:off x="5583733" y="1810000"/>
            <a:ext cx="1376533" cy="70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475569"/>
                </a:solidFill>
                <a:latin typeface="Calibri" pitchFamily="34" charset="0"/>
              </a:rPr>
              <a:t>Dados juridicos e contratuais</a:t>
            </a:r>
            <a:endParaRPr lang="pt-BR" sz="950" dirty="0"/>
          </a:p>
        </p:txBody>
      </p:sp>
      <p:sp>
        <p:nvSpPr>
          <p:cNvPr id="21" name="Tab2BG"/>
          <p:cNvSpPr/>
          <p:nvPr/>
        </p:nvSpPr>
        <p:spPr>
          <a:xfrm>
            <a:off x="7100266" y="1500000"/>
            <a:ext cx="1496533" cy="1084500"/>
          </a:xfrm>
          <a:prstGeom prst="roundRect">
            <a:avLst>
              <a:gd name="adj" fmla="val 408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ab2Name"/>
          <p:cNvSpPr/>
          <p:nvPr/>
        </p:nvSpPr>
        <p:spPr>
          <a:xfrm>
            <a:off x="7160266" y="1560000"/>
            <a:ext cx="1376533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DC2626"/>
                </a:solidFill>
                <a:latin typeface="Calibri" pitchFamily="34" charset="0"/>
              </a:rPr>
              <a:t>🛡️ Impugnacoes</a:t>
            </a:r>
            <a:endParaRPr lang="pt-BR" sz="1100" dirty="0"/>
          </a:p>
        </p:txBody>
      </p:sp>
      <p:sp>
        <p:nvSpPr>
          <p:cNvPr id="23" name="Tab2Desc"/>
          <p:cNvSpPr/>
          <p:nvPr/>
        </p:nvSpPr>
        <p:spPr>
          <a:xfrm>
            <a:off x="7160266" y="1810000"/>
            <a:ext cx="1376533" cy="70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475569"/>
                </a:solidFill>
                <a:latin typeface="Calibri" pitchFamily="34" charset="0"/>
              </a:rPr>
              <a:t>Recursos e contestacoes</a:t>
            </a:r>
            <a:endParaRPr lang="pt-BR" sz="950" dirty="0"/>
          </a:p>
        </p:txBody>
      </p:sp>
      <p:sp>
        <p:nvSpPr>
          <p:cNvPr id="24" name="Tab3BG"/>
          <p:cNvSpPr/>
          <p:nvPr/>
        </p:nvSpPr>
        <p:spPr>
          <a:xfrm>
            <a:off x="3947200" y="2664500"/>
            <a:ext cx="1496533" cy="1084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25" name="Tab3Name"/>
          <p:cNvSpPr/>
          <p:nvPr/>
        </p:nvSpPr>
        <p:spPr>
          <a:xfrm>
            <a:off x="4007200" y="2724500"/>
            <a:ext cx="1376533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6A34A"/>
                </a:solidFill>
                <a:latin typeface="Calibri" pitchFamily="34" charset="0"/>
              </a:rPr>
              <a:t>📁 Recursos</a:t>
            </a:r>
            <a:endParaRPr lang="pt-BR" sz="1100" dirty="0"/>
          </a:p>
        </p:txBody>
      </p:sp>
      <p:sp>
        <p:nvSpPr>
          <p:cNvPr id="26" name="Tab3Desc"/>
          <p:cNvSpPr/>
          <p:nvPr/>
        </p:nvSpPr>
        <p:spPr>
          <a:xfrm>
            <a:off x="4007200" y="2974500"/>
            <a:ext cx="1376533" cy="70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475569"/>
                </a:solidFill>
                <a:latin typeface="Calibri" pitchFamily="34" charset="0"/>
              </a:rPr>
              <a:t>Documentos de recurso</a:t>
            </a:r>
            <a:endParaRPr lang="pt-BR" sz="950" dirty="0"/>
          </a:p>
        </p:txBody>
      </p:sp>
      <p:sp>
        <p:nvSpPr>
          <p:cNvPr id="27" name="Tab4BG"/>
          <p:cNvSpPr/>
          <p:nvPr/>
        </p:nvSpPr>
        <p:spPr>
          <a:xfrm>
            <a:off x="5523733" y="2664500"/>
            <a:ext cx="1496533" cy="108450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8" name="Tab4Name"/>
          <p:cNvSpPr/>
          <p:nvPr/>
        </p:nvSpPr>
        <p:spPr>
          <a:xfrm>
            <a:off x="5583733" y="2724500"/>
            <a:ext cx="1376533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D4ED8"/>
                </a:solidFill>
                <a:latin typeface="Calibri" pitchFamily="34" charset="0"/>
              </a:rPr>
              <a:t>📄 Contratos</a:t>
            </a:r>
            <a:endParaRPr lang="pt-BR" sz="1100" dirty="0"/>
          </a:p>
        </p:txBody>
      </p:sp>
      <p:sp>
        <p:nvSpPr>
          <p:cNvPr id="29" name="Tab4Desc"/>
          <p:cNvSpPr/>
          <p:nvPr/>
        </p:nvSpPr>
        <p:spPr>
          <a:xfrm>
            <a:off x="5583733" y="2974500"/>
            <a:ext cx="1376533" cy="70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475569"/>
                </a:solidFill>
                <a:latin typeface="Calibri" pitchFamily="34" charset="0"/>
              </a:rPr>
              <a:t>Contratos assinados</a:t>
            </a:r>
            <a:endParaRPr lang="pt-BR" sz="950" dirty="0"/>
          </a:p>
        </p:txBody>
      </p:sp>
      <p:sp>
        <p:nvSpPr>
          <p:cNvPr id="30" name="Tab5BG"/>
          <p:cNvSpPr/>
          <p:nvPr/>
        </p:nvSpPr>
        <p:spPr>
          <a:xfrm>
            <a:off x="7100266" y="2664500"/>
            <a:ext cx="1496533" cy="1084500"/>
          </a:xfrm>
          <a:prstGeom prst="roundRect">
            <a:avLst>
              <a:gd name="adj" fmla="val 40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1" name="Tab5Name"/>
          <p:cNvSpPr/>
          <p:nvPr/>
        </p:nvSpPr>
        <p:spPr>
          <a:xfrm>
            <a:off x="7160266" y="2724500"/>
            <a:ext cx="1376533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D97706"/>
                </a:solidFill>
                <a:latin typeface="Calibri" pitchFamily="34" charset="0"/>
              </a:rPr>
              <a:t>💰 Empenhos</a:t>
            </a:r>
            <a:endParaRPr lang="pt-BR" sz="1100" dirty="0"/>
          </a:p>
        </p:txBody>
      </p:sp>
      <p:sp>
        <p:nvSpPr>
          <p:cNvPr id="32" name="Tab5Desc"/>
          <p:cNvSpPr/>
          <p:nvPr/>
        </p:nvSpPr>
        <p:spPr>
          <a:xfrm>
            <a:off x="7160266" y="2974500"/>
            <a:ext cx="1376533" cy="70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475569"/>
                </a:solidFill>
                <a:latin typeface="Calibri" pitchFamily="34" charset="0"/>
              </a:rPr>
              <a:t>Empenhos emitidos</a:t>
            </a:r>
            <a:endParaRPr lang="pt-BR" sz="950" dirty="0"/>
          </a:p>
        </p:txBody>
      </p:sp>
      <p:sp>
        <p:nvSpPr>
          <p:cNvPr id="33" name="Tab6BG"/>
          <p:cNvSpPr/>
          <p:nvPr/>
        </p:nvSpPr>
        <p:spPr>
          <a:xfrm>
            <a:off x="3947200" y="3829000"/>
            <a:ext cx="1496533" cy="1084500"/>
          </a:xfrm>
          <a:prstGeom prst="roundRect">
            <a:avLst>
              <a:gd name="adj" fmla="val 40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4" name="Tab6Name"/>
          <p:cNvSpPr/>
          <p:nvPr/>
        </p:nvSpPr>
        <p:spPr>
          <a:xfrm>
            <a:off x="4007200" y="3889000"/>
            <a:ext cx="1376533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7C3AED"/>
                </a:solidFill>
                <a:latin typeface="Calibri" pitchFamily="34" charset="0"/>
              </a:rPr>
              <a:t>🗂️ Doc.Terceiros</a:t>
            </a:r>
            <a:endParaRPr lang="pt-BR" sz="1100" dirty="0"/>
          </a:p>
        </p:txBody>
      </p:sp>
      <p:sp>
        <p:nvSpPr>
          <p:cNvPr id="35" name="Tab6Desc"/>
          <p:cNvSpPr/>
          <p:nvPr/>
        </p:nvSpPr>
        <p:spPr>
          <a:xfrm>
            <a:off x="4007200" y="4139000"/>
            <a:ext cx="1376533" cy="70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475569"/>
                </a:solidFill>
                <a:latin typeface="Calibri" pitchFamily="34" charset="0"/>
              </a:rPr>
              <a:t>Docs de parceiros</a:t>
            </a:r>
            <a:endParaRPr lang="pt-BR" sz="950" dirty="0"/>
          </a:p>
        </p:txBody>
      </p:sp>
      <p:sp>
        <p:nvSpPr>
          <p:cNvPr id="36" name="Tab7BG"/>
          <p:cNvSpPr/>
          <p:nvPr/>
        </p:nvSpPr>
        <p:spPr>
          <a:xfrm>
            <a:off x="5523733" y="3829000"/>
            <a:ext cx="1496533" cy="1084500"/>
          </a:xfrm>
          <a:prstGeom prst="roundRect">
            <a:avLst>
              <a:gd name="adj" fmla="val 4082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7" name="Tab7Name"/>
          <p:cNvSpPr/>
          <p:nvPr/>
        </p:nvSpPr>
        <p:spPr>
          <a:xfrm>
            <a:off x="5583733" y="3889000"/>
            <a:ext cx="1376533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EA580C"/>
                </a:solidFill>
                <a:latin typeface="Calibri" pitchFamily="34" charset="0"/>
              </a:rPr>
              <a:t>🔭 Prospeccoes</a:t>
            </a:r>
            <a:endParaRPr lang="pt-BR" sz="1100" dirty="0"/>
          </a:p>
        </p:txBody>
      </p:sp>
      <p:sp>
        <p:nvSpPr>
          <p:cNvPr id="38" name="Tab7Desc"/>
          <p:cNvSpPr/>
          <p:nvPr/>
        </p:nvSpPr>
        <p:spPr>
          <a:xfrm>
            <a:off x="5583733" y="4139000"/>
            <a:ext cx="1376533" cy="70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475569"/>
                </a:solidFill>
                <a:latin typeface="Calibri" pitchFamily="34" charset="0"/>
              </a:rPr>
              <a:t>Oportunidades futuras</a:t>
            </a:r>
            <a:endParaRPr lang="pt-BR" sz="950" dirty="0"/>
          </a:p>
        </p:txBody>
      </p:sp>
      <p:sp>
        <p:nvSpPr>
          <p:cNvPr id="39" name="Tab8BG"/>
          <p:cNvSpPr/>
          <p:nvPr/>
        </p:nvSpPr>
        <p:spPr>
          <a:xfrm>
            <a:off x="7100266" y="3829000"/>
            <a:ext cx="1496533" cy="1084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0" name="Tab8Name"/>
          <p:cNvSpPr/>
          <p:nvPr/>
        </p:nvSpPr>
        <p:spPr>
          <a:xfrm>
            <a:off x="7160266" y="3889000"/>
            <a:ext cx="1376533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b="1" dirty="0">
                <a:solidFill>
                  <a:srgbClr val="15803D"/>
                </a:solidFill>
                <a:latin typeface="Calibri" pitchFamily="34" charset="0"/>
              </a:rPr>
              <a:t>📊 Analise</a:t>
            </a:r>
            <a:endParaRPr lang="pt-BR" sz="1100" dirty="0"/>
          </a:p>
        </p:txBody>
      </p:sp>
      <p:sp>
        <p:nvSpPr>
          <p:cNvPr id="41" name="Tab8Desc"/>
          <p:cNvSpPr/>
          <p:nvPr/>
        </p:nvSpPr>
        <p:spPr>
          <a:xfrm>
            <a:off x="7160266" y="4139000"/>
            <a:ext cx="1376533" cy="704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dirty="0">
                <a:solidFill>
                  <a:srgbClr val="475569"/>
                </a:solidFill>
                <a:latin typeface="Calibri" pitchFamily="34" charset="0"/>
              </a:rPr>
              <a:t>Analise tecnica e orcamento</a:t>
            </a:r>
            <a:endParaRPr lang="pt-BR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Avisos Permisso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ModLabel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b="1" dirty="0">
                <a:solidFill>
                  <a:srgbClr val="94A3B8"/>
                </a:solidFill>
                <a:latin typeface="Calibri" pitchFamily="34" charset="0"/>
              </a:rPr>
              <a:t>RECURSOS ESPECIAIS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4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166534"/>
                </a:solidFill>
                <a:latin typeface="Cambria" pitchFamily="34" charset="0"/>
              </a:rPr>
              <a:t>Avisos do Sistema — Publicacao e Permissoes</a:t>
            </a:r>
            <a:endParaRPr lang="pt-BR" sz="3000" dirty="0"/>
          </a:p>
        </p:txBody>
      </p:sp>
      <p:sp>
        <p:nvSpPr>
          <p:cNvPr id="5" name="Col1BG"/>
          <p:cNvSpPr/>
          <p:nvPr/>
        </p:nvSpPr>
        <p:spPr>
          <a:xfrm>
            <a:off x="4572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Col1Title"/>
          <p:cNvSpPr/>
          <p:nvPr/>
        </p:nvSpPr>
        <p:spPr>
          <a:xfrm>
            <a:off x="5472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66534"/>
                </a:solidFill>
                <a:latin typeface="Calibri" pitchFamily="34" charset="0"/>
              </a:rPr>
              <a:t>📢 Como Publicar um Aviso</a:t>
            </a:r>
            <a:endParaRPr lang="pt-BR" sz="1500" dirty="0"/>
          </a:p>
        </p:txBody>
      </p:sp>
      <p:sp>
        <p:nvSpPr>
          <p:cNvPr id="7" name="PermBG"/>
          <p:cNvSpPr/>
          <p:nvPr/>
        </p:nvSpPr>
        <p:spPr>
          <a:xfrm>
            <a:off x="547200" y="1520000"/>
            <a:ext cx="3820500" cy="480000"/>
          </a:xfrm>
          <a:prstGeom prst="roundRect">
            <a:avLst>
              <a:gd name="adj" fmla="val 4082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PermTitle"/>
          <p:cNvSpPr/>
          <p:nvPr/>
        </p:nvSpPr>
        <p:spPr>
          <a:xfrm>
            <a:off x="607200" y="1580000"/>
            <a:ext cx="370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5803D"/>
                </a:solidFill>
                <a:latin typeface="Calibri" pitchFamily="34" charset="0"/>
              </a:rPr>
              <a:t>🔑 Quem pode publicar</a:t>
            </a:r>
            <a:endParaRPr lang="pt-BR" sz="1200" dirty="0"/>
          </a:p>
        </p:txBody>
      </p:sp>
      <p:sp>
        <p:nvSpPr>
          <p:cNvPr id="9" name="PermBody"/>
          <p:cNvSpPr/>
          <p:nvPr/>
        </p:nvSpPr>
        <p:spPr>
          <a:xfrm>
            <a:off x="607200" y="1810000"/>
            <a:ext cx="37005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66534"/>
                </a:solidFill>
                <a:latin typeface="Calibri" pitchFamily="34" charset="0"/>
              </a:rPr>
              <a:t>Usuarios com permissao pode_enviar_avisos ativada no Admin, ou perfil Admin.</a:t>
            </a:r>
            <a:endParaRPr lang="pt-BR" sz="1050" dirty="0"/>
          </a:p>
        </p:txBody>
      </p:sp>
      <p:sp>
        <p:nvSpPr>
          <p:cNvPr id="10" name="Step10"/>
          <p:cNvSpPr/>
          <p:nvPr/>
        </p:nvSpPr>
        <p:spPr>
          <a:xfrm>
            <a:off x="547200" y="2120000"/>
            <a:ext cx="382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6A34A"/>
                </a:solidFill>
                <a:latin typeface="Calibri" pitchFamily="34" charset="0"/>
              </a:rPr>
              <a:t>1.</a:t>
            </a:r>
            <a:endParaRPr lang="pt-BR" sz="1200" dirty="0"/>
          </a:p>
        </p:txBody>
      </p:sp>
      <p:sp>
        <p:nvSpPr>
          <p:cNvPr id="11" name="StepTxt11"/>
          <p:cNvSpPr/>
          <p:nvPr/>
        </p:nvSpPr>
        <p:spPr>
          <a:xfrm>
            <a:off x="697200" y="2120000"/>
            <a:ext cx="366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50" dirty="0">
                <a:solidFill>
                  <a:srgbClr val="1E293B"/>
                </a:solidFill>
                <a:latin typeface="Calibri" pitchFamily="34" charset="0"/>
              </a:rPr>
              <a:t>Clique no botao + verde no cabecalho do widget</a:t>
            </a:r>
            <a:endParaRPr lang="pt-BR" sz="1150" dirty="0"/>
          </a:p>
        </p:txBody>
      </p:sp>
      <p:sp>
        <p:nvSpPr>
          <p:cNvPr id="12" name="Step12"/>
          <p:cNvSpPr/>
          <p:nvPr/>
        </p:nvSpPr>
        <p:spPr>
          <a:xfrm>
            <a:off x="547200" y="2410000"/>
            <a:ext cx="382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6A34A"/>
                </a:solidFill>
                <a:latin typeface="Calibri" pitchFamily="34" charset="0"/>
              </a:rPr>
              <a:t>2.</a:t>
            </a:r>
            <a:endParaRPr lang="pt-BR" sz="1200" dirty="0"/>
          </a:p>
        </p:txBody>
      </p:sp>
      <p:sp>
        <p:nvSpPr>
          <p:cNvPr id="13" name="StepTxt13"/>
          <p:cNvSpPr/>
          <p:nvPr/>
        </p:nvSpPr>
        <p:spPr>
          <a:xfrm>
            <a:off x="697200" y="2410000"/>
            <a:ext cx="366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50" dirty="0">
                <a:solidFill>
                  <a:srgbClr val="1E293B"/>
                </a:solidFill>
                <a:latin typeface="Calibri" pitchFamily="34" charset="0"/>
              </a:rPr>
              <a:t>Preencha titulo, mensagem, tipo e criticidade</a:t>
            </a:r>
            <a:endParaRPr lang="pt-BR" sz="1150" dirty="0"/>
          </a:p>
        </p:txBody>
      </p:sp>
      <p:sp>
        <p:nvSpPr>
          <p:cNvPr id="14" name="Step14"/>
          <p:cNvSpPr/>
          <p:nvPr/>
        </p:nvSpPr>
        <p:spPr>
          <a:xfrm>
            <a:off x="547200" y="2700000"/>
            <a:ext cx="382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6A34A"/>
                </a:solidFill>
                <a:latin typeface="Calibri" pitchFamily="34" charset="0"/>
              </a:rPr>
              <a:t>3.</a:t>
            </a:r>
            <a:endParaRPr lang="pt-BR" sz="1200" dirty="0"/>
          </a:p>
        </p:txBody>
      </p:sp>
      <p:sp>
        <p:nvSpPr>
          <p:cNvPr id="15" name="StepTxt15"/>
          <p:cNvSpPr/>
          <p:nvPr/>
        </p:nvSpPr>
        <p:spPr>
          <a:xfrm>
            <a:off x="697200" y="2700000"/>
            <a:ext cx="366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50" dirty="0">
                <a:solidFill>
                  <a:srgbClr val="1E293B"/>
                </a:solidFill>
                <a:latin typeface="Calibri" pitchFamily="34" charset="0"/>
              </a:rPr>
              <a:t>Defina prazo de exibicao ou marque Permanente</a:t>
            </a:r>
            <a:endParaRPr lang="pt-BR" sz="1150" dirty="0"/>
          </a:p>
        </p:txBody>
      </p:sp>
      <p:sp>
        <p:nvSpPr>
          <p:cNvPr id="16" name="Step16"/>
          <p:cNvSpPr/>
          <p:nvPr/>
        </p:nvSpPr>
        <p:spPr>
          <a:xfrm>
            <a:off x="547200" y="2990000"/>
            <a:ext cx="382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6A34A"/>
                </a:solidFill>
                <a:latin typeface="Calibri" pitchFamily="34" charset="0"/>
              </a:rPr>
              <a:t>4.</a:t>
            </a:r>
            <a:endParaRPr lang="pt-BR" sz="1200" dirty="0"/>
          </a:p>
        </p:txBody>
      </p:sp>
      <p:sp>
        <p:nvSpPr>
          <p:cNvPr id="17" name="StepTxt17"/>
          <p:cNvSpPr/>
          <p:nvPr/>
        </p:nvSpPr>
        <p:spPr>
          <a:xfrm>
            <a:off x="697200" y="2990000"/>
            <a:ext cx="366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50" dirty="0">
                <a:solidFill>
                  <a:srgbClr val="1E293B"/>
                </a:solidFill>
                <a:latin typeface="Calibri" pitchFamily="34" charset="0"/>
              </a:rPr>
              <a:t>Clique em Publicar Aviso — aparece para todos imediatamente</a:t>
            </a:r>
            <a:endParaRPr lang="pt-BR" sz="1150" dirty="0"/>
          </a:p>
        </p:txBody>
      </p:sp>
      <p:sp>
        <p:nvSpPr>
          <p:cNvPr id="18" name="Col2BG"/>
          <p:cNvSpPr/>
          <p:nvPr/>
        </p:nvSpPr>
        <p:spPr>
          <a:xfrm>
            <a:off x="46863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9" name="Col2Title"/>
          <p:cNvSpPr/>
          <p:nvPr/>
        </p:nvSpPr>
        <p:spPr>
          <a:xfrm>
            <a:off x="47763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D4ED8"/>
                </a:solidFill>
                <a:latin typeface="Calibri" pitchFamily="34" charset="0"/>
              </a:rPr>
              <a:t>⚙️ Gerenciar no Painel Admin</a:t>
            </a:r>
            <a:endParaRPr lang="pt-BR" sz="1500" dirty="0"/>
          </a:p>
        </p:txBody>
      </p:sp>
      <p:sp>
        <p:nvSpPr>
          <p:cNvPr id="20" name="AdminPath"/>
          <p:cNvSpPr/>
          <p:nvPr/>
        </p:nvSpPr>
        <p:spPr>
          <a:xfrm>
            <a:off x="4776300" y="1510000"/>
            <a:ext cx="382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E40AF"/>
                </a:solidFill>
                <a:latin typeface="Calibri" pitchFamily="34" charset="0"/>
              </a:rPr>
              <a:t>Menu Admin → aba 📢 Avisos</a:t>
            </a:r>
            <a:endParaRPr lang="pt-BR" sz="1200" dirty="0"/>
          </a:p>
        </p:txBody>
      </p:sp>
      <p:sp>
        <p:nvSpPr>
          <p:cNvPr id="21" name="ChkBG"/>
          <p:cNvSpPr/>
          <p:nvPr/>
        </p:nvSpPr>
        <p:spPr>
          <a:xfrm>
            <a:off x="4776300" y="1810000"/>
            <a:ext cx="3820500" cy="440000"/>
          </a:xfrm>
          <a:prstGeom prst="roundRect">
            <a:avLst>
              <a:gd name="adj" fmla="val 4082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2" name="ChkTitle"/>
          <p:cNvSpPr/>
          <p:nvPr/>
        </p:nvSpPr>
        <p:spPr>
          <a:xfrm>
            <a:off x="4836300" y="1870000"/>
            <a:ext cx="3700500" cy="25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E40AF"/>
                </a:solidFill>
                <a:latin typeface="Calibri" pitchFamily="34" charset="0"/>
              </a:rPr>
              <a:t>☑️ Permissao por Usuario</a:t>
            </a:r>
            <a:endParaRPr lang="pt-BR" sz="1200" dirty="0"/>
          </a:p>
        </p:txBody>
      </p:sp>
      <p:sp>
        <p:nvSpPr>
          <p:cNvPr id="23" name="ChkBody"/>
          <p:cNvSpPr/>
          <p:nvPr/>
        </p:nvSpPr>
        <p:spPr>
          <a:xfrm>
            <a:off x="4836300" y="2110000"/>
            <a:ext cx="3700500" cy="19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3A8A"/>
                </a:solidFill>
                <a:latin typeface="Calibri" pitchFamily="34" charset="0"/>
              </a:rPr>
              <a:t>Cadastro de Usuario → checkbox "Pode publicar Avisos do Sistema"</a:t>
            </a:r>
            <a:endParaRPr lang="pt-BR" sz="1050" dirty="0"/>
          </a:p>
        </p:txBody>
      </p:sp>
      <p:sp>
        <p:nvSpPr>
          <p:cNvPr id="24" name="FeatIcon24"/>
          <p:cNvSpPr/>
          <p:nvPr/>
        </p:nvSpPr>
        <p:spPr>
          <a:xfrm>
            <a:off x="4776300" y="2350000"/>
            <a:ext cx="382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D4ED8"/>
                </a:solidFill>
                <a:latin typeface="Calibri" pitchFamily="34" charset="0"/>
              </a:rPr>
              <a:t>✏️ Editar</a:t>
            </a:r>
            <a:endParaRPr lang="pt-BR" sz="1200" dirty="0"/>
          </a:p>
        </p:txBody>
      </p:sp>
      <p:sp>
        <p:nvSpPr>
          <p:cNvPr id="25" name="FeatBody25"/>
          <p:cNvSpPr/>
          <p:nvPr/>
        </p:nvSpPr>
        <p:spPr>
          <a:xfrm>
            <a:off x="4776300" y="2585000"/>
            <a:ext cx="38205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374151"/>
                </a:solidFill>
                <a:latin typeface="Calibri" pitchFamily="34" charset="0"/>
              </a:rPr>
              <a:t>Altere titulo, mensagem ou criticidade a qualquer momento</a:t>
            </a:r>
            <a:endParaRPr lang="pt-BR" sz="1050" dirty="0"/>
          </a:p>
        </p:txBody>
      </p:sp>
      <p:sp>
        <p:nvSpPr>
          <p:cNvPr id="26" name="FeatIcon26"/>
          <p:cNvSpPr/>
          <p:nvPr/>
        </p:nvSpPr>
        <p:spPr>
          <a:xfrm>
            <a:off x="4776300" y="2830000"/>
            <a:ext cx="382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D4ED8"/>
                </a:solidFill>
                <a:latin typeface="Calibri" pitchFamily="34" charset="0"/>
              </a:rPr>
              <a:t>⏸ Ativar/Desativar</a:t>
            </a:r>
            <a:endParaRPr lang="pt-BR" sz="1200" dirty="0"/>
          </a:p>
        </p:txBody>
      </p:sp>
      <p:sp>
        <p:nvSpPr>
          <p:cNvPr id="27" name="FeatBody27"/>
          <p:cNvSpPr/>
          <p:nvPr/>
        </p:nvSpPr>
        <p:spPr>
          <a:xfrm>
            <a:off x="4776300" y="3065000"/>
            <a:ext cx="38205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374151"/>
                </a:solidFill>
                <a:latin typeface="Calibri" pitchFamily="34" charset="0"/>
              </a:rPr>
              <a:t>Pause a exibicao sem excluir o aviso</a:t>
            </a:r>
            <a:endParaRPr lang="pt-BR" sz="1050" dirty="0"/>
          </a:p>
        </p:txBody>
      </p:sp>
      <p:sp>
        <p:nvSpPr>
          <p:cNvPr id="28" name="FeatIcon28"/>
          <p:cNvSpPr/>
          <p:nvPr/>
        </p:nvSpPr>
        <p:spPr>
          <a:xfrm>
            <a:off x="4776300" y="3310000"/>
            <a:ext cx="382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D4ED8"/>
                </a:solidFill>
                <a:latin typeface="Calibri" pitchFamily="34" charset="0"/>
              </a:rPr>
              <a:t>🗑 Excluir</a:t>
            </a:r>
            <a:endParaRPr lang="pt-BR" sz="1200" dirty="0"/>
          </a:p>
        </p:txBody>
      </p:sp>
      <p:sp>
        <p:nvSpPr>
          <p:cNvPr id="29" name="FeatBody29"/>
          <p:cNvSpPr/>
          <p:nvPr/>
        </p:nvSpPr>
        <p:spPr>
          <a:xfrm>
            <a:off x="4776300" y="3545000"/>
            <a:ext cx="38205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374151"/>
                </a:solidFill>
                <a:latin typeface="Calibri" pitchFamily="34" charset="0"/>
              </a:rPr>
              <a:t>Remove permanentemente o aviso do sistema</a:t>
            </a:r>
            <a:endParaRPr lang="pt-BR" sz="1050" dirty="0"/>
          </a:p>
        </p:txBody>
      </p:sp>
      <p:sp>
        <p:nvSpPr>
          <p:cNvPr id="30" name="FeatIcon30"/>
          <p:cNvSpPr/>
          <p:nvPr/>
        </p:nvSpPr>
        <p:spPr>
          <a:xfrm>
            <a:off x="4776300" y="3790000"/>
            <a:ext cx="3820500" cy="24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200" b="1" dirty="0">
                <a:solidFill>
                  <a:srgbClr val="1D4ED8"/>
                </a:solidFill>
                <a:latin typeface="Calibri" pitchFamily="34" charset="0"/>
              </a:rPr>
              <a:t>📅 Prazo</a:t>
            </a:r>
            <a:endParaRPr lang="pt-BR" sz="1200" dirty="0"/>
          </a:p>
        </p:txBody>
      </p:sp>
      <p:sp>
        <p:nvSpPr>
          <p:cNvPr id="31" name="FeatBody31"/>
          <p:cNvSpPr/>
          <p:nvPr/>
        </p:nvSpPr>
        <p:spPr>
          <a:xfrm>
            <a:off x="4776300" y="4025000"/>
            <a:ext cx="38205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374151"/>
                </a:solidFill>
                <a:latin typeface="Calibri" pitchFamily="34" charset="0"/>
              </a:rPr>
              <a:t>Aviso expira automaticamente na data definida</a:t>
            </a:r>
            <a:endParaRPr lang="pt-BR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Avisos Wid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ModLabel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ESPECIAIS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Avisos do Sistema — Widget Flutuante</a:t>
            </a:r>
            <a:endParaRPr lang="pt-BR" sz="3000" dirty="0"/>
          </a:p>
        </p:txBody>
      </p:sp>
      <p:sp>
        <p:nvSpPr>
          <p:cNvPr id="5" name="CardBaixa"/>
          <p:cNvSpPr/>
          <p:nvPr/>
        </p:nvSpPr>
        <p:spPr>
          <a:xfrm>
            <a:off x="457200" y="1100000"/>
            <a:ext cx="2643200" cy="1680000"/>
          </a:xfrm>
          <a:prstGeom prst="roundRect">
            <a:avLst>
              <a:gd name="adj" fmla="val 4082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6" name="CardBaixaTitle"/>
          <p:cNvSpPr/>
          <p:nvPr/>
        </p:nvSpPr>
        <p:spPr>
          <a:xfrm>
            <a:off x="547200" y="1200000"/>
            <a:ext cx="24632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Baixa Criticidade</a:t>
            </a:r>
            <a:endParaRPr lang="pt-BR" sz="1400" dirty="0"/>
          </a:p>
        </p:txBody>
      </p:sp>
      <p:sp>
        <p:nvSpPr>
          <p:cNvPr id="7" name="CardBaixaBody"/>
          <p:cNvSpPr/>
          <p:nvPr/>
        </p:nvSpPr>
        <p:spPr>
          <a:xfrm>
            <a:off x="547200" y="1560000"/>
            <a:ext cx="2463200" cy="11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informativos e lembretes. Exibidos em amarelo claro. Ideal para comunicados gerais e orientacoes nao urgentes.</a:t>
            </a:r>
            <a:endParaRPr lang="pt-BR" sz="1100" dirty="0"/>
          </a:p>
        </p:txBody>
      </p:sp>
      <p:sp>
        <p:nvSpPr>
          <p:cNvPr id="8" name="CardMedia"/>
          <p:cNvSpPr/>
          <p:nvPr/>
        </p:nvSpPr>
        <p:spPr>
          <a:xfrm>
            <a:off x="3250400" y="1100000"/>
            <a:ext cx="2643200" cy="1680000"/>
          </a:xfrm>
          <a:prstGeom prst="roundRect">
            <a:avLst>
              <a:gd name="adj" fmla="val 4082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9" name="CardMediaTitle"/>
          <p:cNvSpPr/>
          <p:nvPr/>
        </p:nvSpPr>
        <p:spPr>
          <a:xfrm>
            <a:off x="3340400" y="1200000"/>
            <a:ext cx="24632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Media Criticidade</a:t>
            </a:r>
            <a:endParaRPr lang="pt-BR" sz="1400" dirty="0"/>
          </a:p>
        </p:txBody>
      </p:sp>
      <p:sp>
        <p:nvSpPr>
          <p:cNvPr id="10" name="CardMediaBody"/>
          <p:cNvSpPr/>
          <p:nvPr/>
        </p:nvSpPr>
        <p:spPr>
          <a:xfrm>
            <a:off x="3340400" y="1560000"/>
            <a:ext cx="2463200" cy="11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atencao. Borda laranja. Indica prazo se aproximando ou situacao que exige revisao em breve.</a:t>
            </a:r>
            <a:endParaRPr lang="pt-BR" sz="1100" dirty="0"/>
          </a:p>
        </p:txBody>
      </p:sp>
      <p:sp>
        <p:nvSpPr>
          <p:cNvPr id="11" name="CardAlta"/>
          <p:cNvSpPr/>
          <p:nvPr/>
        </p:nvSpPr>
        <p:spPr>
          <a:xfrm>
            <a:off x="6043600" y="1100000"/>
            <a:ext cx="2643200" cy="1680000"/>
          </a:xfrm>
          <a:prstGeom prst="roundRect">
            <a:avLst>
              <a:gd name="adj" fmla="val 4082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CardAltaTitle"/>
          <p:cNvSpPr/>
          <p:nvPr/>
        </p:nvSpPr>
        <p:spPr>
          <a:xfrm>
            <a:off x="6133600" y="1200000"/>
            <a:ext cx="24632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Alta Criticidade</a:t>
            </a:r>
            <a:endParaRPr lang="pt-BR" sz="1400" dirty="0"/>
          </a:p>
        </p:txBody>
      </p:sp>
      <p:sp>
        <p:nvSpPr>
          <p:cNvPr id="13" name="CardAltaBody"/>
          <p:cNvSpPr/>
          <p:nvPr/>
        </p:nvSpPr>
        <p:spPr>
          <a:xfrm>
            <a:off x="6133600" y="1560000"/>
            <a:ext cx="2463200" cy="11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Acao imediata necessaria. Widget pulsa em vermelho na tela. Maxima visibilidade para o usuario.</a:t>
            </a:r>
            <a:endParaRPr lang="pt-BR" sz="1100" dirty="0"/>
          </a:p>
        </p:txBody>
      </p:sp>
      <p:sp>
        <p:nvSpPr>
          <p:cNvPr id="14" name="CardUso"/>
          <p:cNvSpPr/>
          <p:nvPr/>
        </p:nvSpPr>
        <p:spPr>
          <a:xfrm>
            <a:off x="457200" y="2940000"/>
            <a:ext cx="4039800" cy="2103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5" name="CardUsoTitle"/>
          <p:cNvSpPr/>
          <p:nvPr/>
        </p:nvSpPr>
        <p:spPr>
          <a:xfrm>
            <a:off x="547200" y="3040000"/>
            <a:ext cx="38598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Arrastar e Minimizar</a:t>
            </a:r>
            <a:endParaRPr lang="pt-BR" sz="1400" dirty="0"/>
          </a:p>
        </p:txBody>
      </p:sp>
      <p:sp>
        <p:nvSpPr>
          <p:cNvPr id="16" name="CardUsoBody"/>
          <p:cNvSpPr/>
          <p:nvPr/>
        </p:nvSpPr>
        <p:spPr>
          <a:xfrm>
            <a:off x="547200" y="3390000"/>
            <a:ext cx="3859800" cy="1553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widget flutua em qualquer tela. Arraste pelo cabecalho para reposicionar. Clique em — para minimizar como icone 📌 com contador de avisos ativos.</a:t>
            </a:r>
            <a:endParaRPr lang="pt-BR" sz="1100" dirty="0"/>
          </a:p>
        </p:txBody>
      </p:sp>
      <p:sp>
        <p:nvSpPr>
          <p:cNvPr id="17" name="CardOrigem"/>
          <p:cNvSpPr/>
          <p:nvPr/>
        </p:nvSpPr>
        <p:spPr>
          <a:xfrm>
            <a:off x="4647000" y="2940000"/>
            <a:ext cx="4039800" cy="2103500"/>
          </a:xfrm>
          <a:prstGeom prst="roundRect">
            <a:avLst>
              <a:gd name="adj" fmla="val 4082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8" name="CardOrigemTitle"/>
          <p:cNvSpPr/>
          <p:nvPr/>
        </p:nvSpPr>
        <p:spPr>
          <a:xfrm>
            <a:off x="4737000" y="3040000"/>
            <a:ext cx="38598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Origem dos Avisos</a:t>
            </a:r>
            <a:endParaRPr lang="pt-BR" sz="1400" dirty="0"/>
          </a:p>
        </p:txBody>
      </p:sp>
      <p:sp>
        <p:nvSpPr>
          <p:cNvPr id="19" name="CardOrigemBody"/>
          <p:cNvSpPr/>
          <p:nvPr/>
        </p:nvSpPr>
        <p:spPr>
          <a:xfrm>
            <a:off x="4737000" y="3390000"/>
            <a:ext cx="3859800" cy="15535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👮 — comunicados operacionais e alertas do sistema. Diretoria 🏢 — mensagens estrategicas e diretrizes da empresa.</a:t>
            </a:r>
            <a:endParaRPr lang="pt-BR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ModLabel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b="1" dirty="0">
                <a:solidFill>
                  <a:srgbClr val="94A3B8"/>
                </a:solidFill>
                <a:latin typeface="Calibri" pitchFamily="34" charset="0"/>
              </a:rPr>
              <a:t>MÓDULO SAC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4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pt-BR" sz="2600" b="1" dirty="0">
                <a:solidFill>
                  <a:srgbClr val="166534"/>
                </a:solidFill>
                <a:latin typeface="Calibri" pitchFamily="34" charset="0"/>
              </a:rPr>
              <a:t>SAC Veicular — Fluxo Reformulado</a:t>
            </a:r>
            <a:endParaRPr lang="pt-BR" sz="2600" dirty="0"/>
          </a:p>
        </p:txBody>
      </p:sp>
      <p:sp>
        <p:nvSpPr>
          <p:cNvPr id="5" name="ColBG5"/>
          <p:cNvSpPr/>
          <p:nvPr/>
        </p:nvSpPr>
        <p:spPr>
          <a:xfrm>
            <a:off x="4572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ColTitle5"/>
          <p:cNvSpPr/>
          <p:nvPr/>
        </p:nvSpPr>
        <p:spPr>
          <a:xfrm>
            <a:off x="5472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66534"/>
                </a:solidFill>
                <a:latin typeface="Calibri" pitchFamily="34" charset="0"/>
              </a:rPr>
              <a:t>📍 Presencial vs 📡 Remota</a:t>
            </a:r>
            <a:endParaRPr lang="pt-BR" sz="1500" dirty="0"/>
          </a:p>
        </p:txBody>
      </p:sp>
      <p:sp>
        <p:nvSpPr>
          <p:cNvPr id="7" name="Bullet7"/>
          <p:cNvSpPr/>
          <p:nvPr/>
        </p:nvSpPr>
        <p:spPr>
          <a:xfrm>
            <a:off x="5472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Presencial: veículo vai até a ACN. Orçamento só depois da chegada (🚗 Chegou → Verificação e Orçamento).</a:t>
            </a:r>
            <a:endParaRPr lang="pt-BR" sz="1050" dirty="0"/>
          </a:p>
        </p:txBody>
      </p:sp>
      <p:sp>
        <p:nvSpPr>
          <p:cNvPr id="8" name="Bullet8"/>
          <p:cNvSpPr/>
          <p:nvPr/>
        </p:nvSpPr>
        <p:spPr>
          <a:xfrm>
            <a:off x="5472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Remota: cotação já fechada antes de agendar — pula direto pra Aguardando Início.</a:t>
            </a:r>
            <a:endParaRPr lang="pt-BR" sz="1050" dirty="0"/>
          </a:p>
        </p:txBody>
      </p:sp>
      <p:sp>
        <p:nvSpPr>
          <p:cNvPr id="9" name="Bullet9"/>
          <p:cNvSpPr/>
          <p:nvPr/>
        </p:nvSpPr>
        <p:spPr>
          <a:xfrm>
            <a:off x="5472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Os dois caminhos se unem em Aguardando Início.</a:t>
            </a:r>
            <a:endParaRPr lang="pt-BR" sz="1050" dirty="0"/>
          </a:p>
        </p:txBody>
      </p:sp>
      <p:sp>
        <p:nvSpPr>
          <p:cNvPr id="10" name="Bullet10"/>
          <p:cNvSpPr/>
          <p:nvPr/>
        </p:nvSpPr>
        <p:spPr>
          <a:xfrm>
            <a:off x="547200" y="290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Adaptação atribui o técnico (▶️ Iniciar) pra começar a execução.</a:t>
            </a:r>
            <a:endParaRPr lang="pt-BR" sz="1050" dirty="0"/>
          </a:p>
        </p:txBody>
      </p:sp>
      <p:sp>
        <p:nvSpPr>
          <p:cNvPr id="11" name="ColBG11"/>
          <p:cNvSpPr/>
          <p:nvPr/>
        </p:nvSpPr>
        <p:spPr>
          <a:xfrm>
            <a:off x="46863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2" name="ColTitle11"/>
          <p:cNvSpPr/>
          <p:nvPr/>
        </p:nvSpPr>
        <p:spPr>
          <a:xfrm>
            <a:off x="47763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D4ED8"/>
                </a:solidFill>
                <a:latin typeface="Calibri" pitchFamily="34" charset="0"/>
              </a:rPr>
              <a:t>🔁 Revisão de Orçamento</a:t>
            </a:r>
            <a:endParaRPr lang="pt-BR" sz="1500" dirty="0"/>
          </a:p>
        </p:txBody>
      </p:sp>
      <p:sp>
        <p:nvSpPr>
          <p:cNvPr id="13" name="Bullet13"/>
          <p:cNvSpPr/>
          <p:nvPr/>
        </p:nvSpPr>
        <p:spPr>
          <a:xfrm>
            <a:off x="47763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Ao concluir, o sistema compara os itens usados com o valor aprovado.</a:t>
            </a:r>
            <a:endParaRPr lang="pt-BR" sz="1050" dirty="0"/>
          </a:p>
        </p:txBody>
      </p:sp>
      <p:sp>
        <p:nvSpPr>
          <p:cNvPr id="14" name="Bullet14"/>
          <p:cNvSpPr/>
          <p:nvPr/>
        </p:nvSpPr>
        <p:spPr>
          <a:xfrm>
            <a:off x="47763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Bateu → segue direto pro Checklist de Qualidade.</a:t>
            </a:r>
            <a:endParaRPr lang="pt-BR" sz="1050" dirty="0"/>
          </a:p>
        </p:txBody>
      </p:sp>
      <p:sp>
        <p:nvSpPr>
          <p:cNvPr id="15" name="Bullet15"/>
          <p:cNvSpPr/>
          <p:nvPr/>
        </p:nvSpPr>
        <p:spPr>
          <a:xfrm>
            <a:off x="47763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Não bateu → OS fica parada e o SAC recebe um alerta pra negociar com o cliente.</a:t>
            </a:r>
            <a:endParaRPr lang="pt-BR" sz="1050" dirty="0"/>
          </a:p>
        </p:txBody>
      </p:sp>
      <p:sp>
        <p:nvSpPr>
          <p:cNvPr id="16" name="Bullet16"/>
          <p:cNvSpPr/>
          <p:nvPr/>
        </p:nvSpPr>
        <p:spPr>
          <a:xfrm>
            <a:off x="4776300" y="290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Botão 🔁 Resolver Revisão libera a Adaptação pra concluir de novo.</a:t>
            </a:r>
            <a:endParaRPr lang="pt-BR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ModLabel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b="1" dirty="0">
                <a:solidFill>
                  <a:srgbClr val="94A3B8"/>
                </a:solidFill>
                <a:latin typeface="Calibri" pitchFamily="34" charset="0"/>
              </a:rPr>
              <a:t>MÓDULO SAC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4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pt-BR" sz="2600" b="1" dirty="0">
                <a:solidFill>
                  <a:srgbClr val="166534"/>
                </a:solidFill>
                <a:latin typeface="Calibri" pitchFamily="34" charset="0"/>
              </a:rPr>
              <a:t>SAC Veicular — CQ, Fiscal e Entrega</a:t>
            </a:r>
            <a:endParaRPr lang="pt-BR" sz="2600" dirty="0"/>
          </a:p>
        </p:txBody>
      </p:sp>
      <p:sp>
        <p:nvSpPr>
          <p:cNvPr id="5" name="ColBG5"/>
          <p:cNvSpPr/>
          <p:nvPr/>
        </p:nvSpPr>
        <p:spPr>
          <a:xfrm>
            <a:off x="4572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ColTitle5"/>
          <p:cNvSpPr/>
          <p:nvPr/>
        </p:nvSpPr>
        <p:spPr>
          <a:xfrm>
            <a:off x="5472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66534"/>
                </a:solidFill>
                <a:latin typeface="Calibri" pitchFamily="34" charset="0"/>
              </a:rPr>
              <a:t>✅ Checklist de Qualidade</a:t>
            </a:r>
            <a:endParaRPr lang="pt-BR" sz="1500" dirty="0"/>
          </a:p>
        </p:txBody>
      </p:sp>
      <p:sp>
        <p:nvSpPr>
          <p:cNvPr id="7" name="Bullet7"/>
          <p:cNvSpPr/>
          <p:nvPr/>
        </p:nvSpPr>
        <p:spPr>
          <a:xfrm>
            <a:off x="5472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OSs em Aguardando CQ entram na fila de CQ &amp; Histórico, numa seção própria.</a:t>
            </a:r>
            <a:endParaRPr lang="pt-BR" sz="1050" dirty="0"/>
          </a:p>
        </p:txBody>
      </p:sp>
      <p:sp>
        <p:nvSpPr>
          <p:cNvPr id="8" name="Bullet8"/>
          <p:cNvSpPr/>
          <p:nvPr/>
        </p:nvSpPr>
        <p:spPr>
          <a:xfrm>
            <a:off x="5472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Mesmo checklist e assinatura digital usados para as OPLs.</a:t>
            </a:r>
            <a:endParaRPr lang="pt-BR" sz="1050" dirty="0"/>
          </a:p>
        </p:txBody>
      </p:sp>
      <p:sp>
        <p:nvSpPr>
          <p:cNvPr id="9" name="Bullet9"/>
          <p:cNvSpPr/>
          <p:nvPr/>
        </p:nvSpPr>
        <p:spPr>
          <a:xfrm>
            <a:off x="5472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Reprovada → volta para Em Execução.</a:t>
            </a:r>
            <a:endParaRPr lang="pt-BR" sz="1050" dirty="0"/>
          </a:p>
        </p:txBody>
      </p:sp>
      <p:sp>
        <p:nvSpPr>
          <p:cNvPr id="10" name="ColBG10"/>
          <p:cNvSpPr/>
          <p:nvPr/>
        </p:nvSpPr>
        <p:spPr>
          <a:xfrm>
            <a:off x="46863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ColTitle10"/>
          <p:cNvSpPr/>
          <p:nvPr/>
        </p:nvSpPr>
        <p:spPr>
          <a:xfrm>
            <a:off x="47763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D4ED8"/>
                </a:solidFill>
                <a:latin typeface="Calibri" pitchFamily="34" charset="0"/>
              </a:rPr>
              <a:t>📤 Fiscal e Entrega</a:t>
            </a:r>
            <a:endParaRPr lang="pt-BR" sz="1500" dirty="0"/>
          </a:p>
        </p:txBody>
      </p:sp>
      <p:sp>
        <p:nvSpPr>
          <p:cNvPr id="12" name="Bullet12"/>
          <p:cNvSpPr/>
          <p:nvPr/>
        </p:nvSpPr>
        <p:spPr>
          <a:xfrm>
            <a:off x="47763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SAC informa o nº de série de cada item instalado antes de enviar ao Fiscal.</a:t>
            </a:r>
            <a:endParaRPr lang="pt-BR" sz="1050" dirty="0"/>
          </a:p>
        </p:txBody>
      </p:sp>
      <p:sp>
        <p:nvSpPr>
          <p:cNvPr id="13" name="Bullet13"/>
          <p:cNvSpPr/>
          <p:nvPr/>
        </p:nvSpPr>
        <p:spPr>
          <a:xfrm>
            <a:off x="47763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Fiscal emite a NF numa seção própria da aba Fiscal, igual às OPLs.</a:t>
            </a:r>
            <a:endParaRPr lang="pt-BR" sz="1050" dirty="0"/>
          </a:p>
        </p:txBody>
      </p:sp>
      <p:sp>
        <p:nvSpPr>
          <p:cNvPr id="14" name="Bullet14"/>
          <p:cNvSpPr/>
          <p:nvPr/>
        </p:nvSpPr>
        <p:spPr>
          <a:xfrm>
            <a:off x="47763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Com a NF emitida, o botão 🚚 Entrega libera no SAC.</a:t>
            </a:r>
            <a:endParaRPr lang="pt-BR" sz="1050" dirty="0"/>
          </a:p>
        </p:txBody>
      </p:sp>
      <p:sp>
        <p:nvSpPr>
          <p:cNvPr id="15" name="Bullet15"/>
          <p:cNvSpPr/>
          <p:nvPr/>
        </p:nvSpPr>
        <p:spPr>
          <a:xfrm>
            <a:off x="4776300" y="290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Novos status: Aguardando Envio Fiscal → Aguardando Emissão NF → Faturada → Entregue.</a:t>
            </a:r>
            <a:endParaRPr lang="pt-BR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ModLabel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b="1" dirty="0">
                <a:solidFill>
                  <a:srgbClr val="94A3B8"/>
                </a:solidFill>
                <a:latin typeface="Calibri" pitchFamily="34" charset="0"/>
              </a:rPr>
              <a:t>MÓDULO COMPRAS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4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pt-BR" sz="2600" b="1" dirty="0">
                <a:solidFill>
                  <a:srgbClr val="166534"/>
                </a:solidFill>
                <a:latin typeface="Calibri" pitchFamily="34" charset="0"/>
              </a:rPr>
              <a:t>Compras — Mesa de Cotações e Aprovações</a:t>
            </a:r>
            <a:endParaRPr lang="pt-BR" sz="2600" dirty="0"/>
          </a:p>
        </p:txBody>
      </p:sp>
      <p:sp>
        <p:nvSpPr>
          <p:cNvPr id="5" name="ColBG5"/>
          <p:cNvSpPr/>
          <p:nvPr/>
        </p:nvSpPr>
        <p:spPr>
          <a:xfrm>
            <a:off x="4572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ColTitle5"/>
          <p:cNvSpPr/>
          <p:nvPr/>
        </p:nvSpPr>
        <p:spPr>
          <a:xfrm>
            <a:off x="5472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66534"/>
                </a:solidFill>
                <a:latin typeface="Calibri" pitchFamily="34" charset="0"/>
              </a:rPr>
              <a:t>🏷️ Mesa de Cotações</a:t>
            </a:r>
            <a:endParaRPr lang="pt-BR" sz="1500" dirty="0"/>
          </a:p>
        </p:txBody>
      </p:sp>
      <p:sp>
        <p:nvSpPr>
          <p:cNvPr id="7" name="Bullet7"/>
          <p:cNvSpPr/>
          <p:nvPr/>
        </p:nvSpPr>
        <p:spPr>
          <a:xfrm>
            <a:off x="5472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Mínimo de 3 cotações de fornecedores pra fechar uma compra.</a:t>
            </a:r>
            <a:endParaRPr lang="pt-BR" sz="1050" dirty="0"/>
          </a:p>
        </p:txBody>
      </p:sp>
      <p:sp>
        <p:nvSpPr>
          <p:cNvPr id="8" name="Bullet8"/>
          <p:cNvSpPr/>
          <p:nvPr/>
        </p:nvSpPr>
        <p:spPr>
          <a:xfrm>
            <a:off x="5472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Cada cotação tem sua própria ✏️ Área Livre pra anotações e prints.</a:t>
            </a:r>
            <a:endParaRPr lang="pt-BR" sz="1050" dirty="0"/>
          </a:p>
        </p:txBody>
      </p:sp>
      <p:sp>
        <p:nvSpPr>
          <p:cNvPr id="9" name="Bullet9"/>
          <p:cNvSpPr/>
          <p:nvPr/>
        </p:nvSpPr>
        <p:spPr>
          <a:xfrm>
            <a:off x="5472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✅ Aprovar esta cotação como vencedora pede a sua senha de login.</a:t>
            </a:r>
            <a:endParaRPr lang="pt-BR" sz="1050" dirty="0"/>
          </a:p>
        </p:txBody>
      </p:sp>
      <p:sp>
        <p:nvSpPr>
          <p:cNvPr id="10" name="ColBG10"/>
          <p:cNvSpPr/>
          <p:nvPr/>
        </p:nvSpPr>
        <p:spPr>
          <a:xfrm>
            <a:off x="46863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ColTitle10"/>
          <p:cNvSpPr/>
          <p:nvPr/>
        </p:nvSpPr>
        <p:spPr>
          <a:xfrm>
            <a:off x="47763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D4ED8"/>
                </a:solidFill>
                <a:latin typeface="Calibri" pitchFamily="34" charset="0"/>
              </a:rPr>
              <a:t>🔒 Alçadas e Departamento</a:t>
            </a:r>
            <a:endParaRPr lang="pt-BR" sz="1500" dirty="0"/>
          </a:p>
        </p:txBody>
      </p:sp>
      <p:sp>
        <p:nvSpPr>
          <p:cNvPr id="12" name="Bullet12"/>
          <p:cNvSpPr/>
          <p:nvPr/>
        </p:nvSpPr>
        <p:spPr>
          <a:xfrm>
            <a:off x="47763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Alçada por valor: definida em Admin, por faixa e perfil aprovador.</a:t>
            </a:r>
            <a:endParaRPr lang="pt-BR" sz="1050" dirty="0"/>
          </a:p>
        </p:txBody>
      </p:sp>
      <p:sp>
        <p:nvSpPr>
          <p:cNvPr id="13" name="Bullet13"/>
          <p:cNvSpPr/>
          <p:nvPr/>
        </p:nvSpPr>
        <p:spPr>
          <a:xfrm>
            <a:off x="47763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🏢 Departamento: o gestor do departamento vinculado também precisa aprovar.</a:t>
            </a:r>
            <a:endParaRPr lang="pt-BR" sz="1050" dirty="0"/>
          </a:p>
        </p:txBody>
      </p:sp>
      <p:sp>
        <p:nvSpPr>
          <p:cNvPr id="14" name="Bullet14"/>
          <p:cNvSpPr/>
          <p:nvPr/>
        </p:nvSpPr>
        <p:spPr>
          <a:xfrm>
            <a:off x="47763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Enquanto pendente, o pedido fica em Aguardando Aprovação.</a:t>
            </a:r>
            <a:endParaRPr lang="pt-BR" sz="1050" dirty="0"/>
          </a:p>
        </p:txBody>
      </p:sp>
      <p:sp>
        <p:nvSpPr>
          <p:cNvPr id="15" name="Bullet15"/>
          <p:cNvSpPr/>
          <p:nvPr/>
        </p:nvSpPr>
        <p:spPr>
          <a:xfrm>
            <a:off x="4776300" y="290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A Ordem de Compra (OC) é gerada automaticamente ao fechar.</a:t>
            </a:r>
            <a:endParaRPr lang="pt-BR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ModLabel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b="1" dirty="0">
                <a:solidFill>
                  <a:srgbClr val="94A3B8"/>
                </a:solidFill>
                <a:latin typeface="Calibri" pitchFamily="34" charset="0"/>
              </a:rPr>
              <a:t>MÓDULO COMPRAS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4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pt-BR" sz="2600" b="1" dirty="0">
                <a:solidFill>
                  <a:srgbClr val="166534"/>
                </a:solidFill>
                <a:latin typeface="Calibri" pitchFamily="34" charset="0"/>
              </a:rPr>
              <a:t>Compras — Conferência Técnica e Faturamento</a:t>
            </a:r>
            <a:endParaRPr lang="pt-BR" sz="2600" dirty="0"/>
          </a:p>
        </p:txBody>
      </p:sp>
      <p:sp>
        <p:nvSpPr>
          <p:cNvPr id="5" name="ColBG5"/>
          <p:cNvSpPr/>
          <p:nvPr/>
        </p:nvSpPr>
        <p:spPr>
          <a:xfrm>
            <a:off x="4572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ColTitle5"/>
          <p:cNvSpPr/>
          <p:nvPr/>
        </p:nvSpPr>
        <p:spPr>
          <a:xfrm>
            <a:off x="5472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66534"/>
                </a:solidFill>
                <a:latin typeface="Calibri" pitchFamily="34" charset="0"/>
              </a:rPr>
              <a:t>📦 Conferência Técnica</a:t>
            </a:r>
            <a:endParaRPr lang="pt-BR" sz="1500" dirty="0"/>
          </a:p>
        </p:txBody>
      </p:sp>
      <p:sp>
        <p:nvSpPr>
          <p:cNvPr id="7" name="Bullet7"/>
          <p:cNvSpPr/>
          <p:nvPr/>
        </p:nvSpPr>
        <p:spPr>
          <a:xfrm>
            <a:off x="5472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Depois de Comprado, o material segue pra conferência na Logística.</a:t>
            </a:r>
            <a:endParaRPr lang="pt-BR" sz="1050" dirty="0"/>
          </a:p>
        </p:txBody>
      </p:sp>
      <p:sp>
        <p:nvSpPr>
          <p:cNvPr id="8" name="Bullet8"/>
          <p:cNvSpPr/>
          <p:nvPr/>
        </p:nvSpPr>
        <p:spPr>
          <a:xfrm>
            <a:off x="5472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Logística confere seriais, volume e a NF do fornecedor.</a:t>
            </a:r>
            <a:endParaRPr lang="pt-BR" sz="1050" dirty="0"/>
          </a:p>
        </p:txBody>
      </p:sp>
      <p:sp>
        <p:nvSpPr>
          <p:cNvPr id="9" name="Bullet9"/>
          <p:cNvSpPr/>
          <p:nvPr/>
        </p:nvSpPr>
        <p:spPr>
          <a:xfrm>
            <a:off x="5472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Só aí a compra vira Concluído e libera o pagamento.</a:t>
            </a:r>
            <a:endParaRPr lang="pt-BR" sz="1050" dirty="0"/>
          </a:p>
        </p:txBody>
      </p:sp>
      <p:sp>
        <p:nvSpPr>
          <p:cNvPr id="10" name="ColBG10"/>
          <p:cNvSpPr/>
          <p:nvPr/>
        </p:nvSpPr>
        <p:spPr>
          <a:xfrm>
            <a:off x="46863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ColTitle10"/>
          <p:cNvSpPr/>
          <p:nvPr/>
        </p:nvSpPr>
        <p:spPr>
          <a:xfrm>
            <a:off x="47763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D4ED8"/>
                </a:solidFill>
                <a:latin typeface="Calibri" pitchFamily="34" charset="0"/>
              </a:rPr>
              <a:t>💰 Faturamento (aba Financeiro)</a:t>
            </a:r>
            <a:endParaRPr lang="pt-BR" sz="1500" dirty="0"/>
          </a:p>
        </p:txBody>
      </p:sp>
      <p:sp>
        <p:nvSpPr>
          <p:cNvPr id="12" name="Bullet12"/>
          <p:cNvSpPr/>
          <p:nvPr/>
        </p:nvSpPr>
        <p:spPr>
          <a:xfrm>
            <a:off x="47763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Painel 📑 Faturamento de Compras lista as compras aguardando pagamento.</a:t>
            </a:r>
            <a:endParaRPr lang="pt-BR" sz="1050" dirty="0"/>
          </a:p>
        </p:txBody>
      </p:sp>
      <p:sp>
        <p:nvSpPr>
          <p:cNvPr id="13" name="Bullet13"/>
          <p:cNvSpPr/>
          <p:nvPr/>
        </p:nvSpPr>
        <p:spPr>
          <a:xfrm>
            <a:off x="47763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Informe o Nº NF do fornecedor e anexe o arquivo.</a:t>
            </a:r>
            <a:endParaRPr lang="pt-BR" sz="1050" dirty="0"/>
          </a:p>
        </p:txBody>
      </p:sp>
      <p:sp>
        <p:nvSpPr>
          <p:cNvPr id="14" name="Bullet14"/>
          <p:cNvSpPr/>
          <p:nvPr/>
        </p:nvSpPr>
        <p:spPr>
          <a:xfrm>
            <a:off x="47763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Clique em 💰 Pago pra concluir o ciclo.</a:t>
            </a:r>
            <a:endParaRPr lang="pt-BR" sz="1050" dirty="0"/>
          </a:p>
        </p:txBody>
      </p:sp>
      <p:sp>
        <p:nvSpPr>
          <p:cNvPr id="15" name="Bullet15"/>
          <p:cNvSpPr/>
          <p:nvPr/>
        </p:nvSpPr>
        <p:spPr>
          <a:xfrm>
            <a:off x="4776300" y="290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Status: 🔒 Aguardando recebimento → 🔓 Liberado → ✅ Pago.</a:t>
            </a:r>
            <a:endParaRPr lang="pt-BR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ModLabel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b="1" dirty="0">
                <a:solidFill>
                  <a:srgbClr val="94A3B8"/>
                </a:solidFill>
                <a:latin typeface="Calibri" pitchFamily="34" charset="0"/>
              </a:rPr>
              <a:t>MÓDULO LOGÍSTICA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4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pt-BR" sz="2600" b="1" dirty="0">
                <a:solidFill>
                  <a:srgbClr val="166534"/>
                </a:solidFill>
                <a:latin typeface="Calibri" pitchFamily="34" charset="0"/>
              </a:rPr>
              <a:t>Logística — Fretes</a:t>
            </a:r>
            <a:endParaRPr lang="pt-BR" sz="2600" dirty="0"/>
          </a:p>
        </p:txBody>
      </p:sp>
      <p:sp>
        <p:nvSpPr>
          <p:cNvPr id="5" name="ColBG5"/>
          <p:cNvSpPr/>
          <p:nvPr/>
        </p:nvSpPr>
        <p:spPr>
          <a:xfrm>
            <a:off x="4572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ColTitle5"/>
          <p:cNvSpPr/>
          <p:nvPr/>
        </p:nvSpPr>
        <p:spPr>
          <a:xfrm>
            <a:off x="5472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66534"/>
                </a:solidFill>
                <a:latin typeface="Calibri" pitchFamily="34" charset="0"/>
              </a:rPr>
              <a:t>🚚 Cotação de Transportadoras</a:t>
            </a:r>
            <a:endParaRPr lang="pt-BR" sz="1500" dirty="0"/>
          </a:p>
        </p:txBody>
      </p:sp>
      <p:sp>
        <p:nvSpPr>
          <p:cNvPr id="7" name="Bullet7"/>
          <p:cNvSpPr/>
          <p:nvPr/>
        </p:nvSpPr>
        <p:spPr>
          <a:xfrm>
            <a:off x="5472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Sub-aba 🚚 Fretes, pra materiais chegando (📥) ou saindo (📤) da ACN.</a:t>
            </a:r>
            <a:endParaRPr lang="pt-BR" sz="1050" dirty="0"/>
          </a:p>
        </p:txBody>
      </p:sp>
      <p:sp>
        <p:nvSpPr>
          <p:cNvPr id="8" name="Bullet8"/>
          <p:cNvSpPr/>
          <p:nvPr/>
        </p:nvSpPr>
        <p:spPr>
          <a:xfrm>
            <a:off x="5472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Mesmo padrão de Compras: mínimo de 3 cotações.</a:t>
            </a:r>
            <a:endParaRPr lang="pt-BR" sz="1050" dirty="0"/>
          </a:p>
        </p:txBody>
      </p:sp>
      <p:sp>
        <p:nvSpPr>
          <p:cNvPr id="9" name="Bullet9"/>
          <p:cNvSpPr/>
          <p:nvPr/>
        </p:nvSpPr>
        <p:spPr>
          <a:xfrm>
            <a:off x="5472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Escolha a vencedora, justifique e confirme — o frete vai pra Em Trânsito.</a:t>
            </a:r>
            <a:endParaRPr lang="pt-BR" sz="1050" dirty="0"/>
          </a:p>
        </p:txBody>
      </p:sp>
      <p:sp>
        <p:nvSpPr>
          <p:cNvPr id="10" name="ColBG10"/>
          <p:cNvSpPr/>
          <p:nvPr/>
        </p:nvSpPr>
        <p:spPr>
          <a:xfrm>
            <a:off x="46863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ColTitle10"/>
          <p:cNvSpPr/>
          <p:nvPr/>
        </p:nvSpPr>
        <p:spPr>
          <a:xfrm>
            <a:off x="47763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D4ED8"/>
                </a:solidFill>
                <a:latin typeface="Calibri" pitchFamily="34" charset="0"/>
              </a:rPr>
              <a:t>📎 Entrega e Cancelamento</a:t>
            </a:r>
            <a:endParaRPr lang="pt-BR" sz="1500" dirty="0"/>
          </a:p>
        </p:txBody>
      </p:sp>
      <p:sp>
        <p:nvSpPr>
          <p:cNvPr id="12" name="Bullet12"/>
          <p:cNvSpPr/>
          <p:nvPr/>
        </p:nvSpPr>
        <p:spPr>
          <a:xfrm>
            <a:off x="47763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Canhoto (comprovante de entrega) é obrigatório pra marcar como Entregue.</a:t>
            </a:r>
            <a:endParaRPr lang="pt-BR" sz="1050" dirty="0"/>
          </a:p>
        </p:txBody>
      </p:sp>
      <p:sp>
        <p:nvSpPr>
          <p:cNvPr id="13" name="Bullet13"/>
          <p:cNvSpPr/>
          <p:nvPr/>
        </p:nvSpPr>
        <p:spPr>
          <a:xfrm>
            <a:off x="47763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O botão só libera depois que um arquivo é anexado.</a:t>
            </a:r>
            <a:endParaRPr lang="pt-BR" sz="1050" dirty="0"/>
          </a:p>
        </p:txBody>
      </p:sp>
      <p:sp>
        <p:nvSpPr>
          <p:cNvPr id="14" name="Bullet14"/>
          <p:cNvSpPr/>
          <p:nvPr/>
        </p:nvSpPr>
        <p:spPr>
          <a:xfrm>
            <a:off x="47763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✕ Cancelar disponível em Cotação ou Em Trânsito, com motivo.</a:t>
            </a:r>
            <a:endParaRPr lang="pt-BR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ModLabel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950" b="1" dirty="0">
                <a:solidFill>
                  <a:srgbClr val="94A3B8"/>
                </a:solidFill>
                <a:latin typeface="Calibri" pitchFamily="34" charset="0"/>
              </a:rPr>
              <a:t>MÓDULO PRODUÇÃO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4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indent="0" marL="0">
              <a:buNone/>
            </a:pPr>
            <a:r>
              <a:rPr lang="pt-BR" sz="2600" b="1" dirty="0">
                <a:solidFill>
                  <a:srgbClr val="166534"/>
                </a:solidFill>
                <a:latin typeface="Calibri" pitchFamily="34" charset="0"/>
              </a:rPr>
              <a:t>Produção — Responsáveis e Apoios Livres</a:t>
            </a:r>
            <a:endParaRPr lang="pt-BR" sz="2600" dirty="0"/>
          </a:p>
        </p:txBody>
      </p:sp>
      <p:sp>
        <p:nvSpPr>
          <p:cNvPr id="5" name="ColBG5"/>
          <p:cNvSpPr/>
          <p:nvPr/>
        </p:nvSpPr>
        <p:spPr>
          <a:xfrm>
            <a:off x="4572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ColTitle5"/>
          <p:cNvSpPr/>
          <p:nvPr/>
        </p:nvSpPr>
        <p:spPr>
          <a:xfrm>
            <a:off x="5472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66534"/>
                </a:solidFill>
                <a:latin typeface="Calibri" pitchFamily="34" charset="0"/>
              </a:rPr>
              <a:t>👥 Ajuste Livre da Equipe</a:t>
            </a:r>
            <a:endParaRPr lang="pt-BR" sz="1500" dirty="0"/>
          </a:p>
        </p:txBody>
      </p:sp>
      <p:sp>
        <p:nvSpPr>
          <p:cNvPr id="7" name="Bullet7"/>
          <p:cNvSpPr/>
          <p:nvPr/>
        </p:nvSpPr>
        <p:spPr>
          <a:xfrm>
            <a:off x="5472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Depois de iniciada, clique em 👥 EQUIPE na OP ou OS pra ajustar quem está trabalhando.</a:t>
            </a:r>
            <a:endParaRPr lang="pt-BR" sz="1050" dirty="0"/>
          </a:p>
        </p:txBody>
      </p:sp>
      <p:sp>
        <p:nvSpPr>
          <p:cNvPr id="8" name="Bullet8"/>
          <p:cNvSpPr/>
          <p:nvPr/>
        </p:nvSpPr>
        <p:spPr>
          <a:xfrm>
            <a:off x="5472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Diferente do cadastro fixo de Equipes — aqui vale só pra aquela OP/OS.</a:t>
            </a:r>
            <a:endParaRPr lang="pt-BR" sz="1050" dirty="0"/>
          </a:p>
        </p:txBody>
      </p:sp>
      <p:sp>
        <p:nvSpPr>
          <p:cNvPr id="9" name="Bullet9"/>
          <p:cNvSpPr/>
          <p:nvPr/>
        </p:nvSpPr>
        <p:spPr>
          <a:xfrm>
            <a:off x="5472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Adicione ou remova membros a qualquer momento com + Add / 🗑️.</a:t>
            </a:r>
            <a:endParaRPr lang="pt-BR" sz="1050" dirty="0"/>
          </a:p>
        </p:txBody>
      </p:sp>
      <p:sp>
        <p:nvSpPr>
          <p:cNvPr id="10" name="ColBG10"/>
          <p:cNvSpPr/>
          <p:nvPr/>
        </p:nvSpPr>
        <p:spPr>
          <a:xfrm>
            <a:off x="4686300" y="1000000"/>
            <a:ext cx="4000500" cy="4023500"/>
          </a:xfrm>
          <a:prstGeom prst="roundRect">
            <a:avLst>
              <a:gd name="adj" fmla="val 4082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ColTitle10"/>
          <p:cNvSpPr/>
          <p:nvPr/>
        </p:nvSpPr>
        <p:spPr>
          <a:xfrm>
            <a:off x="4776300" y="1110000"/>
            <a:ext cx="3820500" cy="33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500" b="1" dirty="0">
                <a:solidFill>
                  <a:srgbClr val="1D4ED8"/>
                </a:solidFill>
                <a:latin typeface="Calibri" pitchFamily="34" charset="0"/>
              </a:rPr>
              <a:t>💰 Comissão</a:t>
            </a:r>
            <a:endParaRPr lang="pt-BR" sz="1500" dirty="0"/>
          </a:p>
        </p:txBody>
      </p:sp>
      <p:sp>
        <p:nvSpPr>
          <p:cNvPr id="12" name="Bullet12"/>
          <p:cNvSpPr/>
          <p:nvPr/>
        </p:nvSpPr>
        <p:spPr>
          <a:xfrm>
            <a:off x="4776300" y="152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Responsáveis: comissão pelo próprio percentual configurado no RH.</a:t>
            </a:r>
            <a:endParaRPr lang="pt-BR" sz="1050" dirty="0"/>
          </a:p>
        </p:txBody>
      </p:sp>
      <p:sp>
        <p:nvSpPr>
          <p:cNvPr id="13" name="Bullet13"/>
          <p:cNvSpPr/>
          <p:nvPr/>
        </p:nvSpPr>
        <p:spPr>
          <a:xfrm>
            <a:off x="4776300" y="198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Apoios: adicional fixo de 0,1% do valor de mão de obra da OP/OS.</a:t>
            </a:r>
            <a:endParaRPr lang="pt-BR" sz="1050" dirty="0"/>
          </a:p>
        </p:txBody>
      </p:sp>
      <p:sp>
        <p:nvSpPr>
          <p:cNvPr id="14" name="Bullet14"/>
          <p:cNvSpPr/>
          <p:nvPr/>
        </p:nvSpPr>
        <p:spPr>
          <a:xfrm>
            <a:off x="4776300" y="2440000"/>
            <a:ext cx="3820500" cy="4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indent="0" marL="0">
              <a:buNone/>
            </a:pPr>
            <a:r>
              <a:rPr lang="pt-BR" sz="1050" dirty="0">
                <a:solidFill>
                  <a:srgbClr val="1E293B"/>
                </a:solidFill>
                <a:latin typeface="Calibri" pitchFamily="34" charset="0"/>
              </a:rPr>
              <a:t>O apoio recebe isso além do que os responsáveis já recebem.</a:t>
            </a:r>
            <a:endParaRPr lang="pt-BR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Module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50" b="1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RH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Comissões de Técnicos</a:t>
            </a:r>
            <a:endParaRPr lang="pt-BR" sz="3000" dirty="0"/>
          </a:p>
        </p:txBody>
      </p:sp>
      <p:sp>
        <p:nvSpPr>
          <p:cNvPr id="5" name="Sep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6" name="Box6"/>
          <p:cNvSpPr/>
          <p:nvPr/>
        </p:nvSpPr>
        <p:spPr>
          <a:xfrm>
            <a:off x="45720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7" name="Hdr6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Faturada / A Faturar</a:t>
            </a:r>
            <a:endParaRPr lang="pt-BR" sz="1350" dirty="0"/>
          </a:p>
        </p:txBody>
      </p:sp>
      <p:sp>
        <p:nvSpPr>
          <p:cNvPr id="8" name="Blt6"/>
          <p:cNvSpPr/>
          <p:nvPr/>
        </p:nvSpPr>
        <p:spPr>
          <a:xfrm>
            <a:off x="59436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✅ Faturada: OPs/OSs com NF emitida no período.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⏳ A Faturar: produção concluída, NF ainda não emitida.</a:t>
            </a:r>
            <a:endParaRPr lang="pt-BR" sz="1150" dirty="0"/>
          </a:p>
        </p:txBody>
      </p:sp>
      <p:sp>
        <p:nvSpPr>
          <p:cNvPr id="9" name="Box9"/>
          <p:cNvSpPr/>
          <p:nvPr/>
        </p:nvSpPr>
        <p:spPr>
          <a:xfrm>
            <a:off x="466392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F0F9FF"/>
            </a:solidFill>
            <a:prstDash val="solid"/>
          </a:ln>
        </p:spPr>
      </p:sp>
      <p:sp>
        <p:nvSpPr>
          <p:cNvPr id="10" name="Hdr9"/>
          <p:cNvSpPr/>
          <p:nvPr/>
        </p:nvSpPr>
        <p:spPr>
          <a:xfrm>
            <a:off x="480108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 Comissão</a:t>
            </a:r>
            <a:endParaRPr lang="pt-BR" sz="1350" dirty="0"/>
          </a:p>
        </p:txBody>
      </p:sp>
      <p:sp>
        <p:nvSpPr>
          <p:cNvPr id="11" name="Blt9"/>
          <p:cNvSpPr/>
          <p:nvPr/>
        </p:nvSpPr>
        <p:spPr>
          <a:xfrm>
            <a:off x="480108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por Técnico Individual, Dupla ou Equipe (Head Line).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Apoio: adicional fixo de 0,1% sobre a mão de obra.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de veículos: divide o valor pela quantidade de carros automaticamente.</a:t>
            </a:r>
            <a:endParaRPr lang="pt-BR" sz="1150" dirty="0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Module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50" b="1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PRODUÇÃO / ENGENHARIA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Comercial e Pausa</a:t>
            </a:r>
            <a:endParaRPr lang="pt-BR" sz="3000" dirty="0"/>
          </a:p>
        </p:txBody>
      </p:sp>
      <p:sp>
        <p:nvSpPr>
          <p:cNvPr id="5" name="Sep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6" name="Box6"/>
          <p:cNvSpPr/>
          <p:nvPr/>
        </p:nvSpPr>
        <p:spPr>
          <a:xfrm>
            <a:off x="45720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7" name="Hdr6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Comercial</a:t>
            </a:r>
            <a:endParaRPr lang="pt-BR" sz="1350" dirty="0"/>
          </a:p>
        </p:txBody>
      </p:sp>
      <p:sp>
        <p:nvSpPr>
          <p:cNvPr id="8" name="Blt6"/>
          <p:cNvSpPr/>
          <p:nvPr/>
        </p:nvSpPr>
        <p:spPr>
          <a:xfrm>
            <a:off x="59436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só conta Seg–Sex, das 8h00 às 17h45.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expediente, o cronômetro não avança sozinho.</a:t>
            </a:r>
            <a:endParaRPr lang="pt-BR" sz="1150" dirty="0"/>
          </a:p>
        </p:txBody>
      </p:sp>
      <p:sp>
        <p:nvSpPr>
          <p:cNvPr id="9" name="Box9"/>
          <p:cNvSpPr/>
          <p:nvPr/>
        </p:nvSpPr>
        <p:spPr>
          <a:xfrm>
            <a:off x="466392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F0F9FF"/>
            </a:solidFill>
            <a:prstDash val="solid"/>
          </a:ln>
        </p:spPr>
      </p:sp>
      <p:sp>
        <p:nvSpPr>
          <p:cNvPr id="10" name="Hdr9"/>
          <p:cNvSpPr/>
          <p:nvPr/>
        </p:nvSpPr>
        <p:spPr>
          <a:xfrm>
            <a:off x="480108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Pausa</a:t>
            </a:r>
            <a:endParaRPr lang="pt-BR" sz="1350" dirty="0"/>
          </a:p>
        </p:txBody>
      </p:sp>
      <p:sp>
        <p:nvSpPr>
          <p:cNvPr id="11" name="Blt9"/>
          <p:cNvSpPr/>
          <p:nvPr/>
        </p:nvSpPr>
        <p:spPr>
          <a:xfrm>
            <a:off x="480108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em OPL "Em Análise Engenharia" e "Em Produção".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pra pausas durante o expediente (material, prioridade).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Retomar volta a contar — tempo pausado é descontado do total.</a:t>
            </a:r>
            <a:endParaRPr lang="pt-BR" sz="1150" dirty="0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" name="Module"/>
          <p:cNvSpPr/>
          <p:nvPr/>
        </p:nvSpPr>
        <p:spPr>
          <a:xfrm>
            <a:off x="457200" y="1828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50" b="1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FORMAÇÃO DE PREÇOS</a:t>
            </a:r>
            <a:endParaRPr lang="pt-BR" sz="950" dirty="0"/>
          </a:p>
        </p:txBody>
      </p:sp>
      <p:sp>
        <p:nvSpPr>
          <p:cNvPr id="4" name="Title"/>
          <p:cNvSpPr/>
          <p:nvPr/>
        </p:nvSpPr>
        <p:spPr>
          <a:xfrm>
            <a:off x="45720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Preços</a:t>
            </a:r>
            <a:endParaRPr lang="pt-BR" sz="3000" dirty="0"/>
          </a:p>
        </p:txBody>
      </p:sp>
      <p:sp>
        <p:nvSpPr>
          <p:cNvPr id="5" name="Sep"/>
          <p:cNvSpPr/>
          <p:nvPr/>
        </p:nvSpPr>
        <p:spPr>
          <a:xfrm>
            <a:off x="457200" y="1024128"/>
            <a:ext cx="8229600" cy="27432"/>
          </a:xfrm>
          <a:prstGeom prst="rect">
            <a:avLst/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6" name="Box6"/>
          <p:cNvSpPr/>
          <p:nvPr/>
        </p:nvSpPr>
        <p:spPr>
          <a:xfrm>
            <a:off x="45720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E0F2FE"/>
            </a:solidFill>
            <a:prstDash val="solid"/>
          </a:ln>
        </p:spPr>
      </p:sp>
      <p:sp>
        <p:nvSpPr>
          <p:cNvPr id="7" name="Hdr6"/>
          <p:cNvSpPr/>
          <p:nvPr/>
        </p:nvSpPr>
        <p:spPr>
          <a:xfrm>
            <a:off x="59436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</a:t>
            </a:r>
            <a:endParaRPr lang="pt-BR" sz="1350" dirty="0"/>
          </a:p>
        </p:txBody>
      </p:sp>
      <p:sp>
        <p:nvSpPr>
          <p:cNvPr id="8" name="Blt6"/>
          <p:cNvSpPr/>
          <p:nvPr/>
        </p:nvSpPr>
        <p:spPr>
          <a:xfrm>
            <a:off x="59436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com custo, IPI%, ST%, Markup% e DIFAL%.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globais: PTAX, impostos, markup, lote.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Finalizar &amp; Anexar PDF na OP/OS vinculada.</a:t>
            </a:r>
            <a:endParaRPr lang="pt-BR" sz="1150" dirty="0"/>
          </a:p>
        </p:txBody>
      </p:sp>
      <p:sp>
        <p:nvSpPr>
          <p:cNvPr id="9" name="Box9"/>
          <p:cNvSpPr/>
          <p:nvPr/>
        </p:nvSpPr>
        <p:spPr>
          <a:xfrm>
            <a:off x="4663920" y="1207008"/>
            <a:ext cx="4023360" cy="3430080"/>
          </a:xfrm>
          <a:prstGeom prst="roundRect">
            <a:avLst>
              <a:gd name="adj" fmla="val 1975"/>
            </a:avLst>
          </a:prstGeom>
          <a:noFill/>
          <a:ln w="12700">
            <a:solidFill>
              <a:srgbClr val="F0F9FF"/>
            </a:solidFill>
            <a:prstDash val="solid"/>
          </a:ln>
        </p:spPr>
      </p:sp>
      <p:sp>
        <p:nvSpPr>
          <p:cNvPr id="10" name="Hdr9"/>
          <p:cNvSpPr/>
          <p:nvPr/>
        </p:nvSpPr>
        <p:spPr>
          <a:xfrm>
            <a:off x="4801080" y="1316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50" b="1" kern="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Final e Histórico</a:t>
            </a:r>
            <a:endParaRPr lang="pt-BR" sz="1350" dirty="0"/>
          </a:p>
        </p:txBody>
      </p:sp>
      <p:sp>
        <p:nvSpPr>
          <p:cNvPr id="11" name="Blt9"/>
          <p:cNvSpPr/>
          <p:nvPr/>
        </p:nvSpPr>
        <p:spPr>
          <a:xfrm>
            <a:off x="4801080" y="1755648"/>
            <a:ext cx="3749040" cy="2771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Registrar Versão Final: exige senha, grava responsável.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finalizada, alterações viram log automático.</a:t>
            </a:r>
            <a:endParaRPr lang="pt-BR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pt-BR" sz="115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Histórico: todas as versões + 🏆 qual foi a vencedora.</a:t>
            </a:r>
            <a:endParaRPr lang="pt-BR" sz="1150" dirty="0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ACN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ACN Sinal Verde — Treinamento Interno</dc:title>
  <dc:subject>PptxGenJS Presentation</dc:subject>
  <dc:creator>ACN</dc:creator>
  <cp:lastModifiedBy>ACN</cp:lastModifiedBy>
  <cp:revision>1</cp:revision>
  <dcterms:created xsi:type="dcterms:W3CDTF">2026-07-13T00:50:18Z</dcterms:created>
  <dcterms:modified xsi:type="dcterms:W3CDTF">2026-07-13T00:50:18Z</dcterms:modified>
</cp:coreProperties>
</file>