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8" r:id="rId39"/>
    <p:sldId id="270" r:id="rId16"/>
    <p:sldId id="271" r:id="rId17"/>
    <p:sldId id="289" r:id="rId40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90" r:id="rId41"/>
    <p:sldId id="294" r:id="rId45"/>
    <p:sldId id="293" r:id="rId44"/>
    <p:sldId id="292" r:id="rId43"/>
    <p:sldId id="291" r:id="rId4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Apresente-se e explique que o treinamento cobrirá todos os módulos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os objetivos do treinamento. Enfatize que o sistema é web e não requer instalação.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completo de módulos. Os colaboradores podem acessar só os módulos permitidos pelo perfil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login ao vivo. Mostre também o funcionamento no celular (menu hambúrguer).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OP ao vivo. Ressalte que ao salvar, a Engenharia é notificada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como filtrar projetos atrasados e como acessar uma proposta existente.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a Engenharia é a ponte entre Comercial e Produção. Mostre o BOM e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Demanda Avulsa com etapas e prioridade Urgente.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PCP é o coração do planejamento — conecta Comercial e Produção. Mostre a fila e os gargalos.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Serralheria e Chicotes são setores especializados com abas próprias. Cada setor vê apenas suas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o controle por etapas na Produção e o papel do Laboratório antes da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Compras e Almoxarifado trabalham em conjunto: a Compra abastece o estoque, o Almox. monta os kits.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CQ é a porta de saída da produção. Só passa pelo Logística quem foi aprovado no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fluxo de vistoria de entrada. Ressalte a importância das fotos como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diferença no fluxo de garantia vs. fora de garantia. Mostre a criação de uma 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Kanban. Mostre como mover uma oportunidade de Proposta para Negociação.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transcrição de áudio com IA — diferencial para registros de reunião e ligações.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WhatsApp integrado é diferencial competitivo. Mostre o badge pulsante e a conversa inline.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licitacoes correm em paralelo ao CRM de vendas privadas, com etapas proprias.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modulo Fiscal fecha o ciclo financeiro de cada OPL. NF so pode ser emitida apos aprovacao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cadastro de RH alimenta toda a plataforma. Sem colaborador cadastrado, nao e possivel atribuir operador ou tecnico.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relatorios sao acessiveis por perfil — gestores veem o consolidado, cada setor ve seus indicadores.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Apenas o perfil Admin pode criar e editar usuarios. Recomende criar um admin de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modo escuro ao vivo. Abra no celular e demonstre o menu hamburguer.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o treinamento. Abra o sistema e incentive cada participante a fazer login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3931920"/>
            <a:ext cx="822960" cy="8229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85800"/>
            <a:ext cx="2926080" cy="566928"/>
          </a:xfrm>
          <a:prstGeom prst="roundRect">
            <a:avLst>
              <a:gd name="adj" fmla="val 806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722376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ACN SINAL VERDE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INTERNO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Industrial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• Todos os módulos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736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   •   Julho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Dominar todos os módulos do ACN Sinal Verde para executar as atividades do dia a dia com total autonomia.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equipe: Comercial, Engenharia, PCP, Produção, SAC, CRM, Fiscal, RH e Gestão.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estimada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completa: ~2 horas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módulo: 5 a 15 minutos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módulos  •  32 funcionalidades  •  Disponível 24h via browser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dos Módulos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39896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Dem. Avulsas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40680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04688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141464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Serralheria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8328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Chicotes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039112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39896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03904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40680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04688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Almoxarifado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141464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05472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8328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2336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Ctrl. Qual.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039112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9896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03904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Vistorias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40680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141464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05472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38328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Kanban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039112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03120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Contatos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739896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03904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40680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04688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Licitações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141464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/ Admin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 — ACESSO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Acessando o Sistema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Chrome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recomendado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a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 senha fornecidos pelo Administrador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 módulo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qualquer item do menu lateral esquerdo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tela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4336" y="166420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(Header)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4336" y="1965960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ACN, nome do usuário logado, modo escuro, botão Sair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2459736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255117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Lateral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74336" y="2852928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entre todos os módulos, organizada por área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4336" y="343814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Conteúdo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74336" y="3739896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do módulo ativo — ocupa a maior parte da tela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4233672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74336" y="43251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Menu Hambúrguer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74336" y="4626864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celular, o menu aparece ao tocar ☰ no canto superior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Comercial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e histórico de demandas comerciais • Menu: Comercial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Registrando uma Nova Demanda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em "+ Nova OP"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verde no canto superior direito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tipo de projeto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Transf. Veicular Discreta/Ostensiva, Manutenção…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Informar chassi ou n° 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único do projeto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operador e prazo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e data prevista de entrega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criada → Status inicial: Em Espera Engenharia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 projeto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4632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Espera Engenharia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Almox.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4632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5800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Faturamento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4632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Cancelado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Histórico de Projetos e Filtros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livre em TODOS os campos: OPL, chassi, cliente, modelo, status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tipo de projeto (Transformação / Manutenção)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operador responsável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intervalo de datas de entrada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ATRASO vs. prazo em tempo real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direto à proposta comercial (PDF/OneNote)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visualizar detalhes de qualquer OPL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da tabela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 / N° 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1228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Projeto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Prev. Entrega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228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4015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4107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/ 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e Demandas Avulsas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de OPLs • BOM • Kit • Demandas internas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Engenharia por OPL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OPL da Comercial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Espera Engenharia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Elaborar o BOM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completa de materiais e componentes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Kit ao Almoxarifado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Almox. separa e disponibiliza os itens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Liberar para Produção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muda para Em Produção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etapas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visual em % por etapa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1207008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Completo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74336" y="1600200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materiais com qtd., fornecedor e custo por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46320" y="2194560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74336" y="2286000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Configuráveis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74336" y="2587752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as etapas específicas para cada tipo de projeto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3182112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74336" y="327355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Prazo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74336" y="3575304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o prazo está próximo ou vencido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41696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42611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Técnicos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74336" y="4562856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plantas e desenhos técnicos vinculados à OPL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Demandas Avulsas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internas da equipe de Engenharia que não estão vinculadas a uma OPL específica — serviços internos, melhorias, estudos técnicos e adaptações.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Execução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em etapas e acompanhe o % de conclusão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006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com Alerta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286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prazo está próximo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por Etapa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o que foi feito em cada passo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e Evidências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286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e documentos vinculados por demanda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536192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15361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01168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487168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487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e Setores Produtivos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 • Serralheria • Chicotes • Laboratório • Produção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PCP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— Planejamento e Controle da Produção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de todas as OPLs liberadas para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Sequenciamento e priorização da fila de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gargalo e tempo parado por setor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da demanda comercial à capacidade produtiva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 para priorização automática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desempenho produtivo por período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planejamento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572768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Demanda Comercial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2240280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2240280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Engenharia (BOM)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907792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907792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PCP (Sequenciamento)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3575304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575304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Produção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42816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4242816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Entrega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 e Chicotes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 de estrutura e solda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materiais metálicos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Em Andamento › Concluído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horas por tarefa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 principal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Chicotes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chicotes elétricos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componentes por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cada lote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qualidade integrada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produção por peça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Produção e Laboratório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— Linha de Montagem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OPLs liberadas pela Engenharia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Avanço de etapas: instalação, fiação, acabamento…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técnico responsável por etapa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Data/hora de início e conclusão de cada passo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Bloqueios e ocorrências com causa e duração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concluir → vai automaticamente ao CQ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Laboratório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calibrações de equipamentos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chassi e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Laudos técnicos de aprovação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validade de calibrações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completo por equipamento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À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Compras, Almoxarifado e Qualidade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• Almoxarifado • CQ • Logística • Vistorias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 e Almoxarifado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Solicitação de material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gestor antes da compra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 negociação com fornecedores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Aprovado › Comprado › Recebido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fornecedor e material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Almoxarifado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entradas e saídas de materiais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Kit por OPL (item a item)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estoque em tempo real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estoque mínimo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completa da peça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QUALIDADE E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e Logística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(CQ)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OPL ao fim da linha de montagem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configurável por tipo de projeto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/ Reprovado / Retrabalho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fotográficas por ponto de inspeção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gerado automaticamente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→ vai para Logística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Logística In/Out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chegada do veículo, conferência do chassi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confirmação CQ + agendamento de entrega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Fotografia de entrada e saída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entrega ao cliente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Vistorias de Pátio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Vistorias de Pátio registram o estado físico dos veículos na entrada e saída da planta, com fotos e observações. Serve como prova de condição pré e pós-serviço, protegendo a empresa de disputas sobre danos.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fotográfico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por ângulo (frente, laterais, traseira, interior)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3756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6557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de danos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6557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e descreva avarias pré-existentes no veículo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digital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4593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confirma a condição de entrada ou saída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chassi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vistorias anteriores de qualquer veículo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3756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6557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6557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vistoria rastreada ao projeto correspondente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1792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exportável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com fotos e observações para arquivo e e-mail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E VENDAS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e CRM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• CRM Funil • CRM Contatos • WhatsApp • Licitações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SAC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— Atendimento ao Cliente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 em Garantia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dentro do prazo de garantia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 sem custo ao cliente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e mão de obra pela ACN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garantia para o fabricante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do defeito por chassi/OPL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de Garantia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fora do prazo ou escopo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enviada e aprovada antes do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responsável designado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ao concluir 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vinculado ao veículo e cliente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Funil de Vendas (Kanban)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Prospecção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R$ 45.000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R$ 18.000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29968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75688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29968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R$ 22.000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29968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R$ 55.000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785616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31336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85616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R$ 68.000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85616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R$ 12.000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41264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86984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41264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14416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R$ 31.000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96912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42632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296912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70064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R$ 90.000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do Funil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7472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entre estágios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029968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avanço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785616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58768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 a clientes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41264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14416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interações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96912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0064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conversão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Contatos e Histórico de Interações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completo: nome, telefones, e-mails, empresa, cargo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todas as interações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Tipos: ligação, e-mail, reunião, visita, documento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Transcrição automática de áudios via IA (Whisper/OpenAI)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Conversas de WhatsApp integradas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a oportunidades do funil CRM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nome, empresa, telefone ou e-mail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Interação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Ligacao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Reuniao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(IA)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— Integração e Notificações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usa Evolution API para envio e recebimento de mensagens WhatsApp. As mensagens chegam via webhook, são salvas no banco de dados e aparecem em tempo real no CRM, com badge de notificação pulsante para mensagens não lidas.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734056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27685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Evolution API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" y="251460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do servidor e API Key em CRM › Configurações WhatsApp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87693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7693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3352419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289521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QR Code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60704" y="313296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no celular › Configurações › Dispositivos Vinculados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49529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49529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3970782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51358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mensagens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0704" y="375132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vermelho pulsante aparece no menu e no card do contato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11365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136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60704" y="413194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conversa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60704" y="436968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› Contatos › selecione o contato › aba WhatsApp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212848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Multi-instância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74336" y="2606040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vendedores conectados com números diferentes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962656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74336" y="305409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em tempo real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74336" y="3355848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mensagens nao lidas no menu lateral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3712464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38039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Notificacao SAC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4336" y="4105656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de suporte criam OS no SAC automaticamente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46320" y="4462272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74336" y="45537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por contato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74336" y="4855464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conversas salvas e pesquisaveis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Licitações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oportunidades de licitacao publica e privada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Etapas: Prospeccao › Analise › Proposta › Ganhou / Perdeu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prazos de edital e entrega de propostas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Documentacao vinculada: editais, certidoes, habilitacoes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licitacoes por cliente e orgao publico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Relatorio de taxa de sucesso em licitacoes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846320" y="120700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Kanban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74336" y="160020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Visualizacao em funil das oportunidades abertas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0" y="221284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74336" y="260604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quando o prazo do edital esta proximo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321868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74336" y="331012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74336" y="361188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 editais, contratos e documentos de habilitacao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422452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4336" y="431596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Competitiva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74336" y="461772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concorrentes e valores praticados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GESTAO E FINANCEIRO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Fiscal, RH e Relatorios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• RH • Relatorios • Admin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FISCAL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 — Notas Fiscais e Vouchers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Fiscais (NF)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Emissao de NF vinculada a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NFs pendentes e emitidas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NF vs. proposta comercial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Integracao com Logistica (saida do veiculo)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faturamento por periodo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Vouchers de Servico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para servicos de terceiros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do servico com valor unitario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consolidado por voucher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e autorizador registrados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cadastrados pelo Admin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498848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459028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5216" y="4892040"/>
            <a:ext cx="7973568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para Voucher sao cadastrados em Admin › Tipos de Servico. Configure antes de emitir os primeiros vouchers.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RH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 — Cadastro de Colaboradores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Funcionarios CLT e Terceiros / PJ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pessoais: CPF, telefone, endereço, email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e beneficios (funcionarios)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 e CNPJ (terceiros)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Configuracao de comissao: percentual e base de calculo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de selecao em toda a plataforma (operador, tecnico...)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e permissoes de acesso ao sistema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Colaborador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Funcionario CLT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56048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registrado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vinculados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 obrigatorio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Ferias e ponto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34015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Terceiro / PJ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56048" y="38404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CNPJ e razao social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Comissao configuravel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anexos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RELATORIOS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Relatorios e Indicadores de Desempenho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de Producao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OPLs abertas, em andamento e concluidas por periodo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e Atraso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entrega no prazo vs. atrasadas por setor e operador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 e Qualidade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aprovacao na 1a inspecao (FPY) e retrabalhos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 Conversao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521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fechamento de oportunidades no funil de vendas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3756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557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e Atendimento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6557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abertas, tempo medio de resolucao, satisfacao do cliente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593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por periodo, NFs emitidas, valor medio de OS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ADMIN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Administracao e Perfis de Acesso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usuario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e-mail, senha e perfil de acesso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perfil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Comercial, Engenharia, CRM, Gerente...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permissoes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modulos cada perfil pode ver e editar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ou desativar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podem ser desativados sem excluir historico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disponiveis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(acesso total)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5800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3115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947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Producao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3115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Qualidade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1947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Logistica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5800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3115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4632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5800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3115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Vendas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4632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1947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Comercial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85800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3115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Extras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 • Acesso Mobile • Lixeira • Segurança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Modo Escuro, Mobile e Recuperacao de Dados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Alterne pelo icone no cabecalho. Preferencia salva automaticamente por usuario.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pelo Celular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responsiva: menu lateral vira gaveta lateral (hamburger). Funciona em qualquer smartphone sem instalar app.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Lixeira — Recuperacao em 24h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deletados ficam 24h na lixeira antes da exclusao permanente. Qualquer admin pode restaurar.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006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Seguranca e Perfis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acessa somente os modulos do seu perfil. Senhas gerenciadas pelo Admin — nunca compartilhe credenciais.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00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sistema agora: spinsc.github.io/ACN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Solicite seu login ao Administrador do sistema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Explore o modulo do seu setor primeiro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Em caso de duvidas, consulte o Manual PDF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Relate problemas ao responsavel pelo sistema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7772400" cy="841248"/>
          </a:xfrm>
          <a:prstGeom prst="roundRect">
            <a:avLst>
              <a:gd name="adj" fmla="val 760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40480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ACN Sinal Verde  •  spinsc.github.io/ACN  •  Suporte: fale com o Admin do sistema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Equipes, Dupla e Execução Compartilhada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Execução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1 técnico registrado ao iniciar a OP.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Dupla: 2 técnicos — ambos computam comissão.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grupo cadastrado, Head Line é o responsável principal.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modo pode ser alterado após o início com o botão ✏️ RESP.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é registrada no log da OP (usuário + horário).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DF4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Equipes (aba 🏷️)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Produção &gt; aba 🏷️ Equipes.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a equipe com nome e Head Line (técnico responsável).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membros: cada membro aparece na OP ao selecionar a equipe.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Head Line é registrado como responsável em todos os relatórios.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ficam disponíveis para todas as OPs futuras.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FF6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VER  — disponível em todas as OPs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VER em qualquer linha da tabela de produção para ver todos os detalhes: modo, responsáveis, prazos, observações e retrabalhos.</a:t>
            </a:r>
            <a:endParaRPr lang="pt-BR" sz="1050" dirty="0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— Centro de Custo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Centro de Custo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OP/OS: vincula a compra a uma Ordem de Produção existente. Busca por número.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personalizado: seleciona um centro pré-cadastrado (código + nome).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livre: qualquer descrição (ex: Evento, Marketing, Infraestrutura).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🏷️ ou "+ Definir" na coluna Centro de Custo de cada pedido.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Gerenciar e Reportar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⚙️ Centros de Custo no cabeçalho da aba Compras.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centros com código único + nome descritivo.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 exclua centros cadastrados.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em Relatórios &gt; Centro Custo: totais por centro, percentual e drill-down de pedidos.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sem centro definido não aparecem no relatório.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Dica — SQL necessário antes de usar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 arquivo supabase/sql/centro_custo.sql para criar a tabela centros_custo e a coluna centro_custo em pcp_pedidos_compra.</a:t>
            </a:r>
            <a:endParaRPr lang="pt-BR" sz="1050" dirty="0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e @Menções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💬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pelo botão 💬 disponível na interface.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Canais globais: Geral, Produção, Comercial e outros.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diretas (DMs): privadas entre dois usuários.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DMs: apenas conversas com mensagens não lidas aparecem na lista.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consecutivas do mesmo usuário são agrupadas visualmente.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@Menções nos Campos de Texto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@nome em qualquer campo de observações para mencionar um colega.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de colaboradores aparece para seleção rápida.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colega mencionado recebe uma notificação no ícone 🔔 do sistema.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notificação leva diretamente ao contexto (OPL, Compra, CRM, etc.).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Disponível em: Compras, OPLs, CRM, Demandas e outros campos.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Nota — Usuários carregados via paginação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@menções busca todos os usuários do sistema via paginação (contorna limite do servidor). Todos os cadastrados aparecem na busca, mesmo com muitos usuários.</a:t>
            </a:r>
            <a:endParaRPr lang="pt-BR" sz="1050" dirty="0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RM Area Liv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MODULO CRM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CRM — Area Livre (Editor de Notas)</a:t>
            </a:r>
            <a:endParaRPr lang="pt-BR" sz="3000" dirty="0"/>
          </a:p>
        </p:txBody>
      </p:sp>
      <p:sp>
        <p:nvSpPr>
          <p:cNvPr id="5" name="Subtitle"/>
          <p:cNvSpPr/>
          <p:nvPr/>
        </p:nvSpPr>
        <p:spPr>
          <a:xfrm>
            <a:off x="457200" y="920000"/>
            <a:ext cx="82296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dirty="0">
                <a:solidFill>
                  <a:srgbClr val="64748B"/>
                </a:solidFill>
                <a:latin typeface="Calibri" pitchFamily="34" charset="0"/>
              </a:rPr>
              <a:t>Espaco exclusivo em cada aba do modal para anotacoes ricas, imagens e links vinculados ao negocio.</a:t>
            </a:r>
            <a:endParaRPr lang="pt-BR" sz="1200" dirty="0"/>
          </a:p>
        </p:txBody>
      </p:sp>
      <p:sp>
        <p:nvSpPr>
          <p:cNvPr id="6" name="C1BG"/>
          <p:cNvSpPr/>
          <p:nvPr/>
        </p:nvSpPr>
        <p:spPr>
          <a:xfrm>
            <a:off x="457200" y="122000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7" name="C1Title"/>
          <p:cNvSpPr/>
          <p:nvPr/>
        </p:nvSpPr>
        <p:spPr>
          <a:xfrm>
            <a:off x="557200" y="132000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</a:rPr>
              <a:t>✍️ Formatacao de Texto</a:t>
            </a:r>
            <a:endParaRPr lang="pt-BR" sz="1400" dirty="0"/>
          </a:p>
        </p:txBody>
      </p:sp>
      <p:sp>
        <p:nvSpPr>
          <p:cNvPr id="8" name="C1Body"/>
          <p:cNvSpPr/>
          <p:nvPr/>
        </p:nvSpPr>
        <p:spPr>
          <a:xfrm>
            <a:off x="557200" y="167000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Negrito (B) e Italico (I) via barra de ferramentas. Formatacao rapida por atalhos do teclado. Texto rico preservado ao salvar.</a:t>
            </a:r>
            <a:endParaRPr lang="pt-BR" sz="1150" dirty="0"/>
          </a:p>
        </p:txBody>
      </p:sp>
      <p:sp>
        <p:nvSpPr>
          <p:cNvPr id="9" name="C2BG"/>
          <p:cNvSpPr/>
          <p:nvPr/>
        </p:nvSpPr>
        <p:spPr>
          <a:xfrm>
            <a:off x="4662000" y="122000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0" name="C2Title"/>
          <p:cNvSpPr/>
          <p:nvPr/>
        </p:nvSpPr>
        <p:spPr>
          <a:xfrm>
            <a:off x="4762000" y="132000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D4ED8"/>
                </a:solidFill>
                <a:latin typeface="Calibri" pitchFamily="34" charset="0"/>
              </a:rPr>
              <a:t>📷 Imagens e Capturas de Tela</a:t>
            </a:r>
            <a:endParaRPr lang="pt-BR" sz="1400" dirty="0"/>
          </a:p>
        </p:txBody>
      </p:sp>
      <p:sp>
        <p:nvSpPr>
          <p:cNvPr id="11" name="C2Body"/>
          <p:cNvSpPr/>
          <p:nvPr/>
        </p:nvSpPr>
        <p:spPr>
          <a:xfrm>
            <a:off x="4762000" y="167000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Insira imagens pelo botao 📷 ou cole direto da area de transferencia (Ctrl+V). Suporta prints de tela, fotos e prints de documentos.</a:t>
            </a:r>
            <a:endParaRPr lang="pt-BR" sz="1150" dirty="0"/>
          </a:p>
        </p:txBody>
      </p:sp>
      <p:sp>
        <p:nvSpPr>
          <p:cNvPr id="12" name="C3BG"/>
          <p:cNvSpPr/>
          <p:nvPr/>
        </p:nvSpPr>
        <p:spPr>
          <a:xfrm>
            <a:off x="457200" y="321175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3" name="C3Title"/>
          <p:cNvSpPr/>
          <p:nvPr/>
        </p:nvSpPr>
        <p:spPr>
          <a:xfrm>
            <a:off x="557200" y="331175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D97706"/>
                </a:solidFill>
                <a:latin typeface="Calibri" pitchFamily="34" charset="0"/>
              </a:rPr>
              <a:t>🔗 Links e Referencias</a:t>
            </a:r>
            <a:endParaRPr lang="pt-BR" sz="1400" dirty="0"/>
          </a:p>
        </p:txBody>
      </p:sp>
      <p:sp>
        <p:nvSpPr>
          <p:cNvPr id="14" name="C3Body"/>
          <p:cNvSpPr/>
          <p:nvPr/>
        </p:nvSpPr>
        <p:spPr>
          <a:xfrm>
            <a:off x="557200" y="366175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Insira links para documentos externos, propostas ou sistemas. O botao 🔗 abre um campo para digitar a URL e o texto do link.</a:t>
            </a:r>
            <a:endParaRPr lang="pt-BR" sz="1150" dirty="0"/>
          </a:p>
        </p:txBody>
      </p:sp>
      <p:sp>
        <p:nvSpPr>
          <p:cNvPr id="15" name="C4BG"/>
          <p:cNvSpPr/>
          <p:nvPr/>
        </p:nvSpPr>
        <p:spPr>
          <a:xfrm>
            <a:off x="4662000" y="321175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16" name="C4Title"/>
          <p:cNvSpPr/>
          <p:nvPr/>
        </p:nvSpPr>
        <p:spPr>
          <a:xfrm>
            <a:off x="4762000" y="331175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7C3AED"/>
                </a:solidFill>
                <a:latin typeface="Calibri" pitchFamily="34" charset="0"/>
              </a:rPr>
              <a:t>💾 Salvo por Aba e Negocio</a:t>
            </a:r>
            <a:endParaRPr lang="pt-BR" sz="1400" dirty="0"/>
          </a:p>
        </p:txBody>
      </p:sp>
      <p:sp>
        <p:nvSpPr>
          <p:cNvPr id="17" name="C4Body"/>
          <p:cNvSpPr/>
          <p:nvPr/>
        </p:nvSpPr>
        <p:spPr>
          <a:xfrm>
            <a:off x="4762000" y="366175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Cada aba do CRM tem sua propria Area Livre independente. O conteudo e salvo e carregado automaticamente ao reabrir o negocio.</a:t>
            </a:r>
            <a:endParaRPr lang="pt-BR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RM Mod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MODULO CRM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CRM — Modal Abrir (📂) e 9 Abas</a:t>
            </a:r>
            <a:endParaRPr lang="pt-BR" sz="3000" dirty="0"/>
          </a:p>
        </p:txBody>
      </p:sp>
      <p:sp>
        <p:nvSpPr>
          <p:cNvPr id="5" name="LeftBG"/>
          <p:cNvSpPr/>
          <p:nvPr/>
        </p:nvSpPr>
        <p:spPr>
          <a:xfrm>
            <a:off x="457200" y="1000000"/>
            <a:ext cx="32000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LeftTitle"/>
          <p:cNvSpPr/>
          <p:nvPr/>
        </p:nvSpPr>
        <p:spPr>
          <a:xfrm>
            <a:off x="547200" y="111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</a:rPr>
              <a:t>📂 O que e o Modal Abrir</a:t>
            </a:r>
            <a:endParaRPr lang="pt-BR" sz="1400" dirty="0"/>
          </a:p>
        </p:txBody>
      </p:sp>
      <p:sp>
        <p:nvSpPr>
          <p:cNvPr id="7" name="LI7"/>
          <p:cNvSpPr/>
          <p:nvPr/>
        </p:nvSpPr>
        <p:spPr>
          <a:xfrm>
            <a:off x="547200" y="153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Clique em 📂 Abrir em qualquer card do CRM Kanban para abrir o painel completo do negocio.</a:t>
            </a:r>
            <a:endParaRPr lang="pt-BR" sz="1100" dirty="0"/>
          </a:p>
        </p:txBody>
      </p:sp>
      <p:sp>
        <p:nvSpPr>
          <p:cNvPr id="8" name="LI8"/>
          <p:cNvSpPr/>
          <p:nvPr/>
        </p:nvSpPr>
        <p:spPr>
          <a:xfrm>
            <a:off x="547200" y="191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Layout dividido: formulario de dados a esquerda + abas de historico a direita.</a:t>
            </a:r>
            <a:endParaRPr lang="pt-BR" sz="1100" dirty="0"/>
          </a:p>
        </p:txBody>
      </p:sp>
      <p:sp>
        <p:nvSpPr>
          <p:cNvPr id="9" name="LI9"/>
          <p:cNvSpPr/>
          <p:nvPr/>
        </p:nvSpPr>
        <p:spPr>
          <a:xfrm>
            <a:off x="547200" y="229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Navegue entre as 9 abas sem fechar o modal.</a:t>
            </a:r>
            <a:endParaRPr lang="pt-BR" sz="1100" dirty="0"/>
          </a:p>
        </p:txBody>
      </p:sp>
      <p:sp>
        <p:nvSpPr>
          <p:cNvPr id="10" name="LI10"/>
          <p:cNvSpPr/>
          <p:nvPr/>
        </p:nvSpPr>
        <p:spPr>
          <a:xfrm>
            <a:off x="547200" y="267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Todas as informacoes do negocio em uma unica tela.</a:t>
            </a:r>
            <a:endParaRPr lang="pt-BR" sz="1100" dirty="0"/>
          </a:p>
        </p:txBody>
      </p:sp>
      <p:sp>
        <p:nvSpPr>
          <p:cNvPr id="11" name="HlBG"/>
          <p:cNvSpPr/>
          <p:nvPr/>
        </p:nvSpPr>
        <p:spPr>
          <a:xfrm>
            <a:off x="547200" y="4523500"/>
            <a:ext cx="3020000" cy="400000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HlTxt"/>
          <p:cNvSpPr/>
          <p:nvPr/>
        </p:nvSpPr>
        <p:spPr>
          <a:xfrm>
            <a:off x="597200" y="4603500"/>
            <a:ext cx="2920000" cy="2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b="1" dirty="0">
                <a:solidFill>
                  <a:srgbClr val="15803D"/>
                </a:solidFill>
                <a:latin typeface="Calibri" pitchFamily="34" charset="0"/>
              </a:rPr>
              <a:t>Atalho: clique duas vezes no card para abrir rapidamente.</a:t>
            </a:r>
            <a:endParaRPr lang="pt-BR" sz="1050" dirty="0"/>
          </a:p>
        </p:txBody>
      </p:sp>
      <p:sp>
        <p:nvSpPr>
          <p:cNvPr id="13" name="RightBG"/>
          <p:cNvSpPr/>
          <p:nvPr/>
        </p:nvSpPr>
        <p:spPr>
          <a:xfrm>
            <a:off x="3857200" y="1000000"/>
            <a:ext cx="4829600" cy="4023500"/>
          </a:xfrm>
          <a:prstGeom prst="roundRect">
            <a:avLst>
              <a:gd name="adj" fmla="val 4082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RightTitle"/>
          <p:cNvSpPr/>
          <p:nvPr/>
        </p:nvSpPr>
        <p:spPr>
          <a:xfrm>
            <a:off x="3947200" y="1110000"/>
            <a:ext cx="46496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0369A1"/>
                </a:solidFill>
                <a:latin typeface="Calibri" pitchFamily="34" charset="0"/>
              </a:rPr>
              <a:t>9 Abas disponiveis no painel direito</a:t>
            </a:r>
            <a:endParaRPr lang="pt-BR" sz="1400" dirty="0"/>
          </a:p>
        </p:txBody>
      </p:sp>
      <p:sp>
        <p:nvSpPr>
          <p:cNvPr id="15" name="Tab0BG"/>
          <p:cNvSpPr/>
          <p:nvPr/>
        </p:nvSpPr>
        <p:spPr>
          <a:xfrm>
            <a:off x="3947200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6" name="Tab0Name"/>
          <p:cNvSpPr/>
          <p:nvPr/>
        </p:nvSpPr>
        <p:spPr>
          <a:xfrm>
            <a:off x="4007200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D4ED8"/>
                </a:solidFill>
                <a:latin typeface="Calibri" pitchFamily="34" charset="0"/>
              </a:rPr>
              <a:t>📋 Andamento</a:t>
            </a:r>
            <a:endParaRPr lang="pt-BR" sz="1100" dirty="0"/>
          </a:p>
        </p:txBody>
      </p:sp>
      <p:sp>
        <p:nvSpPr>
          <p:cNvPr id="17" name="Tab0Desc"/>
          <p:cNvSpPr/>
          <p:nvPr/>
        </p:nvSpPr>
        <p:spPr>
          <a:xfrm>
            <a:off x="4007200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Timeline e status do negocio</a:t>
            </a:r>
            <a:endParaRPr lang="pt-BR" sz="950" dirty="0"/>
          </a:p>
        </p:txBody>
      </p:sp>
      <p:sp>
        <p:nvSpPr>
          <p:cNvPr id="18" name="Tab1BG"/>
          <p:cNvSpPr/>
          <p:nvPr/>
        </p:nvSpPr>
        <p:spPr>
          <a:xfrm>
            <a:off x="5523733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19" name="Tab1Name"/>
          <p:cNvSpPr/>
          <p:nvPr/>
        </p:nvSpPr>
        <p:spPr>
          <a:xfrm>
            <a:off x="5583733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CA8A04"/>
                </a:solidFill>
                <a:latin typeface="Calibri" pitchFamily="34" charset="0"/>
              </a:rPr>
              <a:t>⚖️ Processo</a:t>
            </a:r>
            <a:endParaRPr lang="pt-BR" sz="1100" dirty="0"/>
          </a:p>
        </p:txBody>
      </p:sp>
      <p:sp>
        <p:nvSpPr>
          <p:cNvPr id="20" name="Tab1Desc"/>
          <p:cNvSpPr/>
          <p:nvPr/>
        </p:nvSpPr>
        <p:spPr>
          <a:xfrm>
            <a:off x="5583733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Dados juridicos e contratuais</a:t>
            </a:r>
            <a:endParaRPr lang="pt-BR" sz="950" dirty="0"/>
          </a:p>
        </p:txBody>
      </p:sp>
      <p:sp>
        <p:nvSpPr>
          <p:cNvPr id="21" name="Tab2BG"/>
          <p:cNvSpPr/>
          <p:nvPr/>
        </p:nvSpPr>
        <p:spPr>
          <a:xfrm>
            <a:off x="7100266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2" name="Tab2Name"/>
          <p:cNvSpPr/>
          <p:nvPr/>
        </p:nvSpPr>
        <p:spPr>
          <a:xfrm>
            <a:off x="7160266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DC2626"/>
                </a:solidFill>
                <a:latin typeface="Calibri" pitchFamily="34" charset="0"/>
              </a:rPr>
              <a:t>🛡️ Impugnacoes</a:t>
            </a:r>
            <a:endParaRPr lang="pt-BR" sz="1100" dirty="0"/>
          </a:p>
        </p:txBody>
      </p:sp>
      <p:sp>
        <p:nvSpPr>
          <p:cNvPr id="23" name="Tab2Desc"/>
          <p:cNvSpPr/>
          <p:nvPr/>
        </p:nvSpPr>
        <p:spPr>
          <a:xfrm>
            <a:off x="7160266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Recursos e contestacoes</a:t>
            </a:r>
            <a:endParaRPr lang="pt-BR" sz="950" dirty="0"/>
          </a:p>
        </p:txBody>
      </p:sp>
      <p:sp>
        <p:nvSpPr>
          <p:cNvPr id="24" name="Tab3BG"/>
          <p:cNvSpPr/>
          <p:nvPr/>
        </p:nvSpPr>
        <p:spPr>
          <a:xfrm>
            <a:off x="3947200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5" name="Tab3Name"/>
          <p:cNvSpPr/>
          <p:nvPr/>
        </p:nvSpPr>
        <p:spPr>
          <a:xfrm>
            <a:off x="4007200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6A34A"/>
                </a:solidFill>
                <a:latin typeface="Calibri" pitchFamily="34" charset="0"/>
              </a:rPr>
              <a:t>📁 Recursos</a:t>
            </a:r>
            <a:endParaRPr lang="pt-BR" sz="1100" dirty="0"/>
          </a:p>
        </p:txBody>
      </p:sp>
      <p:sp>
        <p:nvSpPr>
          <p:cNvPr id="26" name="Tab3Desc"/>
          <p:cNvSpPr/>
          <p:nvPr/>
        </p:nvSpPr>
        <p:spPr>
          <a:xfrm>
            <a:off x="4007200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Documentos de recurso</a:t>
            </a:r>
            <a:endParaRPr lang="pt-BR" sz="950" dirty="0"/>
          </a:p>
        </p:txBody>
      </p:sp>
      <p:sp>
        <p:nvSpPr>
          <p:cNvPr id="27" name="Tab4BG"/>
          <p:cNvSpPr/>
          <p:nvPr/>
        </p:nvSpPr>
        <p:spPr>
          <a:xfrm>
            <a:off x="5523733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28" name="Tab4Name"/>
          <p:cNvSpPr/>
          <p:nvPr/>
        </p:nvSpPr>
        <p:spPr>
          <a:xfrm>
            <a:off x="5583733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D4ED8"/>
                </a:solidFill>
                <a:latin typeface="Calibri" pitchFamily="34" charset="0"/>
              </a:rPr>
              <a:t>📄 Contratos</a:t>
            </a:r>
            <a:endParaRPr lang="pt-BR" sz="1100" dirty="0"/>
          </a:p>
        </p:txBody>
      </p:sp>
      <p:sp>
        <p:nvSpPr>
          <p:cNvPr id="29" name="Tab4Desc"/>
          <p:cNvSpPr/>
          <p:nvPr/>
        </p:nvSpPr>
        <p:spPr>
          <a:xfrm>
            <a:off x="5583733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Contratos assinados</a:t>
            </a:r>
            <a:endParaRPr lang="pt-BR" sz="950" dirty="0"/>
          </a:p>
        </p:txBody>
      </p:sp>
      <p:sp>
        <p:nvSpPr>
          <p:cNvPr id="30" name="Tab5BG"/>
          <p:cNvSpPr/>
          <p:nvPr/>
        </p:nvSpPr>
        <p:spPr>
          <a:xfrm>
            <a:off x="7100266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1" name="Tab5Name"/>
          <p:cNvSpPr/>
          <p:nvPr/>
        </p:nvSpPr>
        <p:spPr>
          <a:xfrm>
            <a:off x="7160266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D97706"/>
                </a:solidFill>
                <a:latin typeface="Calibri" pitchFamily="34" charset="0"/>
              </a:rPr>
              <a:t>💰 Empenhos</a:t>
            </a:r>
            <a:endParaRPr lang="pt-BR" sz="1100" dirty="0"/>
          </a:p>
        </p:txBody>
      </p:sp>
      <p:sp>
        <p:nvSpPr>
          <p:cNvPr id="32" name="Tab5Desc"/>
          <p:cNvSpPr/>
          <p:nvPr/>
        </p:nvSpPr>
        <p:spPr>
          <a:xfrm>
            <a:off x="7160266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Empenhos emitidos</a:t>
            </a:r>
            <a:endParaRPr lang="pt-BR" sz="950" dirty="0"/>
          </a:p>
        </p:txBody>
      </p:sp>
      <p:sp>
        <p:nvSpPr>
          <p:cNvPr id="33" name="Tab6BG"/>
          <p:cNvSpPr/>
          <p:nvPr/>
        </p:nvSpPr>
        <p:spPr>
          <a:xfrm>
            <a:off x="3947200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34" name="Tab6Name"/>
          <p:cNvSpPr/>
          <p:nvPr/>
        </p:nvSpPr>
        <p:spPr>
          <a:xfrm>
            <a:off x="4007200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7C3AED"/>
                </a:solidFill>
                <a:latin typeface="Calibri" pitchFamily="34" charset="0"/>
              </a:rPr>
              <a:t>🗂️ Doc.Terceiros</a:t>
            </a:r>
            <a:endParaRPr lang="pt-BR" sz="1100" dirty="0"/>
          </a:p>
        </p:txBody>
      </p:sp>
      <p:sp>
        <p:nvSpPr>
          <p:cNvPr id="35" name="Tab6Desc"/>
          <p:cNvSpPr/>
          <p:nvPr/>
        </p:nvSpPr>
        <p:spPr>
          <a:xfrm>
            <a:off x="4007200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Docs de parceiros</a:t>
            </a:r>
            <a:endParaRPr lang="pt-BR" sz="950" dirty="0"/>
          </a:p>
        </p:txBody>
      </p:sp>
      <p:sp>
        <p:nvSpPr>
          <p:cNvPr id="36" name="Tab7BG"/>
          <p:cNvSpPr/>
          <p:nvPr/>
        </p:nvSpPr>
        <p:spPr>
          <a:xfrm>
            <a:off x="5523733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37" name="Tab7Name"/>
          <p:cNvSpPr/>
          <p:nvPr/>
        </p:nvSpPr>
        <p:spPr>
          <a:xfrm>
            <a:off x="5583733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EA580C"/>
                </a:solidFill>
                <a:latin typeface="Calibri" pitchFamily="34" charset="0"/>
              </a:rPr>
              <a:t>🔭 Prospeccoes</a:t>
            </a:r>
            <a:endParaRPr lang="pt-BR" sz="1100" dirty="0"/>
          </a:p>
        </p:txBody>
      </p:sp>
      <p:sp>
        <p:nvSpPr>
          <p:cNvPr id="38" name="Tab7Desc"/>
          <p:cNvSpPr/>
          <p:nvPr/>
        </p:nvSpPr>
        <p:spPr>
          <a:xfrm>
            <a:off x="5583733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Oportunidades futuras</a:t>
            </a:r>
            <a:endParaRPr lang="pt-BR" sz="950" dirty="0"/>
          </a:p>
        </p:txBody>
      </p:sp>
      <p:sp>
        <p:nvSpPr>
          <p:cNvPr id="39" name="Tab8BG"/>
          <p:cNvSpPr/>
          <p:nvPr/>
        </p:nvSpPr>
        <p:spPr>
          <a:xfrm>
            <a:off x="7100266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0" name="Tab8Name"/>
          <p:cNvSpPr/>
          <p:nvPr/>
        </p:nvSpPr>
        <p:spPr>
          <a:xfrm>
            <a:off x="7160266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5803D"/>
                </a:solidFill>
                <a:latin typeface="Calibri" pitchFamily="34" charset="0"/>
              </a:rPr>
              <a:t>📊 Analise</a:t>
            </a:r>
            <a:endParaRPr lang="pt-BR" sz="1100" dirty="0"/>
          </a:p>
        </p:txBody>
      </p:sp>
      <p:sp>
        <p:nvSpPr>
          <p:cNvPr id="41" name="Tab8Desc"/>
          <p:cNvSpPr/>
          <p:nvPr/>
        </p:nvSpPr>
        <p:spPr>
          <a:xfrm>
            <a:off x="7160266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Analise tecnica e orcamento</a:t>
            </a:r>
            <a:endParaRPr lang="pt-BR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Avisos Permisso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Avisos do Sistema — Publicacao e Permissoes</a:t>
            </a:r>
            <a:endParaRPr lang="pt-BR" sz="3000" dirty="0"/>
          </a:p>
        </p:txBody>
      </p:sp>
      <p:sp>
        <p:nvSpPr>
          <p:cNvPr id="5" name="Col1BG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1Title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📢 Como Publicar um Aviso</a:t>
            </a:r>
            <a:endParaRPr lang="pt-BR" sz="1500" dirty="0"/>
          </a:p>
        </p:txBody>
      </p:sp>
      <p:sp>
        <p:nvSpPr>
          <p:cNvPr id="7" name="PermBG"/>
          <p:cNvSpPr/>
          <p:nvPr/>
        </p:nvSpPr>
        <p:spPr>
          <a:xfrm>
            <a:off x="547200" y="1520000"/>
            <a:ext cx="3820500" cy="480000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8" name="PermTitle"/>
          <p:cNvSpPr/>
          <p:nvPr/>
        </p:nvSpPr>
        <p:spPr>
          <a:xfrm>
            <a:off x="607200" y="1580000"/>
            <a:ext cx="370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5803D"/>
                </a:solidFill>
                <a:latin typeface="Calibri" pitchFamily="34" charset="0"/>
              </a:rPr>
              <a:t>🔑 Quem pode publicar</a:t>
            </a:r>
            <a:endParaRPr lang="pt-BR" sz="1200" dirty="0"/>
          </a:p>
        </p:txBody>
      </p:sp>
      <p:sp>
        <p:nvSpPr>
          <p:cNvPr id="9" name="PermBody"/>
          <p:cNvSpPr/>
          <p:nvPr/>
        </p:nvSpPr>
        <p:spPr>
          <a:xfrm>
            <a:off x="607200" y="1810000"/>
            <a:ext cx="3700500" cy="19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66534"/>
                </a:solidFill>
                <a:latin typeface="Calibri" pitchFamily="34" charset="0"/>
              </a:rPr>
              <a:t>Usuarios com permissao pode_enviar_avisos ativada no Admin, ou perfil Admin.</a:t>
            </a:r>
            <a:endParaRPr lang="pt-BR" sz="1050" dirty="0"/>
          </a:p>
        </p:txBody>
      </p:sp>
      <p:sp>
        <p:nvSpPr>
          <p:cNvPr id="10" name="Step10"/>
          <p:cNvSpPr/>
          <p:nvPr/>
        </p:nvSpPr>
        <p:spPr>
          <a:xfrm>
            <a:off x="547200" y="212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1.</a:t>
            </a:r>
            <a:endParaRPr lang="pt-BR" sz="1200" dirty="0"/>
          </a:p>
        </p:txBody>
      </p:sp>
      <p:sp>
        <p:nvSpPr>
          <p:cNvPr id="11" name="StepTxt11"/>
          <p:cNvSpPr/>
          <p:nvPr/>
        </p:nvSpPr>
        <p:spPr>
          <a:xfrm>
            <a:off x="697200" y="212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Clique no botao + verde no cabecalho do widget</a:t>
            </a:r>
            <a:endParaRPr lang="pt-BR" sz="1150" dirty="0"/>
          </a:p>
        </p:txBody>
      </p:sp>
      <p:sp>
        <p:nvSpPr>
          <p:cNvPr id="12" name="Step12"/>
          <p:cNvSpPr/>
          <p:nvPr/>
        </p:nvSpPr>
        <p:spPr>
          <a:xfrm>
            <a:off x="547200" y="24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2.</a:t>
            </a:r>
            <a:endParaRPr lang="pt-BR" sz="1200" dirty="0"/>
          </a:p>
        </p:txBody>
      </p:sp>
      <p:sp>
        <p:nvSpPr>
          <p:cNvPr id="13" name="StepTxt13"/>
          <p:cNvSpPr/>
          <p:nvPr/>
        </p:nvSpPr>
        <p:spPr>
          <a:xfrm>
            <a:off x="697200" y="241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Preencha titulo, mensagem, tipo e criticidade</a:t>
            </a:r>
            <a:endParaRPr lang="pt-BR" sz="1150" dirty="0"/>
          </a:p>
        </p:txBody>
      </p:sp>
      <p:sp>
        <p:nvSpPr>
          <p:cNvPr id="14" name="Step14"/>
          <p:cNvSpPr/>
          <p:nvPr/>
        </p:nvSpPr>
        <p:spPr>
          <a:xfrm>
            <a:off x="547200" y="270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3.</a:t>
            </a:r>
            <a:endParaRPr lang="pt-BR" sz="1200" dirty="0"/>
          </a:p>
        </p:txBody>
      </p:sp>
      <p:sp>
        <p:nvSpPr>
          <p:cNvPr id="15" name="StepTxt15"/>
          <p:cNvSpPr/>
          <p:nvPr/>
        </p:nvSpPr>
        <p:spPr>
          <a:xfrm>
            <a:off x="697200" y="270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Defina prazo de exibicao ou marque Permanente</a:t>
            </a:r>
            <a:endParaRPr lang="pt-BR" sz="1150" dirty="0"/>
          </a:p>
        </p:txBody>
      </p:sp>
      <p:sp>
        <p:nvSpPr>
          <p:cNvPr id="16" name="Step16"/>
          <p:cNvSpPr/>
          <p:nvPr/>
        </p:nvSpPr>
        <p:spPr>
          <a:xfrm>
            <a:off x="547200" y="299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4.</a:t>
            </a:r>
            <a:endParaRPr lang="pt-BR" sz="1200" dirty="0"/>
          </a:p>
        </p:txBody>
      </p:sp>
      <p:sp>
        <p:nvSpPr>
          <p:cNvPr id="17" name="StepTxt17"/>
          <p:cNvSpPr/>
          <p:nvPr/>
        </p:nvSpPr>
        <p:spPr>
          <a:xfrm>
            <a:off x="697200" y="299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Clique em Publicar Aviso — aparece para todos imediatamente</a:t>
            </a:r>
            <a:endParaRPr lang="pt-BR" sz="1150" dirty="0"/>
          </a:p>
        </p:txBody>
      </p:sp>
      <p:sp>
        <p:nvSpPr>
          <p:cNvPr id="18" name="Col2BG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9" name="Col2Title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⚙️ Gerenciar no Painel Admin</a:t>
            </a:r>
            <a:endParaRPr lang="pt-BR" sz="1500" dirty="0"/>
          </a:p>
        </p:txBody>
      </p:sp>
      <p:sp>
        <p:nvSpPr>
          <p:cNvPr id="20" name="AdminPath"/>
          <p:cNvSpPr/>
          <p:nvPr/>
        </p:nvSpPr>
        <p:spPr>
          <a:xfrm>
            <a:off x="4776300" y="15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E40AF"/>
                </a:solidFill>
                <a:latin typeface="Calibri" pitchFamily="34" charset="0"/>
              </a:rPr>
              <a:t>Menu Admin → aba 📢 Avisos</a:t>
            </a:r>
            <a:endParaRPr lang="pt-BR" sz="1200" dirty="0"/>
          </a:p>
        </p:txBody>
      </p:sp>
      <p:sp>
        <p:nvSpPr>
          <p:cNvPr id="21" name="ChkBG"/>
          <p:cNvSpPr/>
          <p:nvPr/>
        </p:nvSpPr>
        <p:spPr>
          <a:xfrm>
            <a:off x="4776300" y="1810000"/>
            <a:ext cx="3820500" cy="440000"/>
          </a:xfrm>
          <a:prstGeom prst="roundRect">
            <a:avLst>
              <a:gd name="adj" fmla="val 408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2" name="ChkTitle"/>
          <p:cNvSpPr/>
          <p:nvPr/>
        </p:nvSpPr>
        <p:spPr>
          <a:xfrm>
            <a:off x="4836300" y="1870000"/>
            <a:ext cx="3700500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E40AF"/>
                </a:solidFill>
                <a:latin typeface="Calibri" pitchFamily="34" charset="0"/>
              </a:rPr>
              <a:t>☑️ Permissao por Usuario</a:t>
            </a:r>
            <a:endParaRPr lang="pt-BR" sz="1200" dirty="0"/>
          </a:p>
        </p:txBody>
      </p:sp>
      <p:sp>
        <p:nvSpPr>
          <p:cNvPr id="23" name="ChkBody"/>
          <p:cNvSpPr/>
          <p:nvPr/>
        </p:nvSpPr>
        <p:spPr>
          <a:xfrm>
            <a:off x="4836300" y="2110000"/>
            <a:ext cx="3700500" cy="19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3A8A"/>
                </a:solidFill>
                <a:latin typeface="Calibri" pitchFamily="34" charset="0"/>
              </a:rPr>
              <a:t>Cadastro de Usuario → checkbox "Pode publicar Avisos do Sistema"</a:t>
            </a:r>
            <a:endParaRPr lang="pt-BR" sz="1050" dirty="0"/>
          </a:p>
        </p:txBody>
      </p:sp>
      <p:sp>
        <p:nvSpPr>
          <p:cNvPr id="24" name="FeatIcon24"/>
          <p:cNvSpPr/>
          <p:nvPr/>
        </p:nvSpPr>
        <p:spPr>
          <a:xfrm>
            <a:off x="4776300" y="235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✏️ Editar</a:t>
            </a:r>
            <a:endParaRPr lang="pt-BR" sz="1200" dirty="0"/>
          </a:p>
        </p:txBody>
      </p:sp>
      <p:sp>
        <p:nvSpPr>
          <p:cNvPr id="25" name="FeatBody25"/>
          <p:cNvSpPr/>
          <p:nvPr/>
        </p:nvSpPr>
        <p:spPr>
          <a:xfrm>
            <a:off x="4776300" y="258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Altere titulo, mensagem ou criticidade a qualquer momento</a:t>
            </a:r>
            <a:endParaRPr lang="pt-BR" sz="1050" dirty="0"/>
          </a:p>
        </p:txBody>
      </p:sp>
      <p:sp>
        <p:nvSpPr>
          <p:cNvPr id="26" name="FeatIcon26"/>
          <p:cNvSpPr/>
          <p:nvPr/>
        </p:nvSpPr>
        <p:spPr>
          <a:xfrm>
            <a:off x="4776300" y="283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⏸ Ativar/Desativar</a:t>
            </a:r>
            <a:endParaRPr lang="pt-BR" sz="1200" dirty="0"/>
          </a:p>
        </p:txBody>
      </p:sp>
      <p:sp>
        <p:nvSpPr>
          <p:cNvPr id="27" name="FeatBody27"/>
          <p:cNvSpPr/>
          <p:nvPr/>
        </p:nvSpPr>
        <p:spPr>
          <a:xfrm>
            <a:off x="4776300" y="306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Pause a exibicao sem excluir o aviso</a:t>
            </a:r>
            <a:endParaRPr lang="pt-BR" sz="1050" dirty="0"/>
          </a:p>
        </p:txBody>
      </p:sp>
      <p:sp>
        <p:nvSpPr>
          <p:cNvPr id="28" name="FeatIcon28"/>
          <p:cNvSpPr/>
          <p:nvPr/>
        </p:nvSpPr>
        <p:spPr>
          <a:xfrm>
            <a:off x="4776300" y="33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🗑 Excluir</a:t>
            </a:r>
            <a:endParaRPr lang="pt-BR" sz="1200" dirty="0"/>
          </a:p>
        </p:txBody>
      </p:sp>
      <p:sp>
        <p:nvSpPr>
          <p:cNvPr id="29" name="FeatBody29"/>
          <p:cNvSpPr/>
          <p:nvPr/>
        </p:nvSpPr>
        <p:spPr>
          <a:xfrm>
            <a:off x="4776300" y="354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Remove permanentemente o aviso do sistema</a:t>
            </a:r>
            <a:endParaRPr lang="pt-BR" sz="1050" dirty="0"/>
          </a:p>
        </p:txBody>
      </p:sp>
      <p:sp>
        <p:nvSpPr>
          <p:cNvPr id="30" name="FeatIcon30"/>
          <p:cNvSpPr/>
          <p:nvPr/>
        </p:nvSpPr>
        <p:spPr>
          <a:xfrm>
            <a:off x="4776300" y="379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📅 Prazo</a:t>
            </a:r>
            <a:endParaRPr lang="pt-BR" sz="1200" dirty="0"/>
          </a:p>
        </p:txBody>
      </p:sp>
      <p:sp>
        <p:nvSpPr>
          <p:cNvPr id="31" name="FeatBody31"/>
          <p:cNvSpPr/>
          <p:nvPr/>
        </p:nvSpPr>
        <p:spPr>
          <a:xfrm>
            <a:off x="4776300" y="402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Aviso expira automaticamente na data definida</a:t>
            </a:r>
            <a:endParaRPr lang="pt-BR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Avisos Wid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Avisos do Sistema — Widget Flutuante</a:t>
            </a:r>
            <a:endParaRPr lang="pt-BR" sz="3000" dirty="0"/>
          </a:p>
        </p:txBody>
      </p:sp>
      <p:sp>
        <p:nvSpPr>
          <p:cNvPr id="5" name="CardBaixa"/>
          <p:cNvSpPr/>
          <p:nvPr/>
        </p:nvSpPr>
        <p:spPr>
          <a:xfrm>
            <a:off x="4572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6" name="CardBaixaTitle"/>
          <p:cNvSpPr/>
          <p:nvPr/>
        </p:nvSpPr>
        <p:spPr>
          <a:xfrm>
            <a:off x="5472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Baixa Criticidade</a:t>
            </a:r>
            <a:endParaRPr lang="pt-BR" sz="1400" dirty="0"/>
          </a:p>
        </p:txBody>
      </p:sp>
      <p:sp>
        <p:nvSpPr>
          <p:cNvPr id="7" name="CardBaixaBody"/>
          <p:cNvSpPr/>
          <p:nvPr/>
        </p:nvSpPr>
        <p:spPr>
          <a:xfrm>
            <a:off x="5472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informativos e lembretes. Exibidos em amarelo claro. Ideal para comunicados gerais e orientacoes nao urgentes.</a:t>
            </a:r>
            <a:endParaRPr lang="pt-BR" sz="1100" dirty="0"/>
          </a:p>
        </p:txBody>
      </p:sp>
      <p:sp>
        <p:nvSpPr>
          <p:cNvPr id="8" name="CardMedia"/>
          <p:cNvSpPr/>
          <p:nvPr/>
        </p:nvSpPr>
        <p:spPr>
          <a:xfrm>
            <a:off x="32504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9" name="CardMediaTitle"/>
          <p:cNvSpPr/>
          <p:nvPr/>
        </p:nvSpPr>
        <p:spPr>
          <a:xfrm>
            <a:off x="33404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Media Criticidade</a:t>
            </a:r>
            <a:endParaRPr lang="pt-BR" sz="1400" dirty="0"/>
          </a:p>
        </p:txBody>
      </p:sp>
      <p:sp>
        <p:nvSpPr>
          <p:cNvPr id="10" name="CardMediaBody"/>
          <p:cNvSpPr/>
          <p:nvPr/>
        </p:nvSpPr>
        <p:spPr>
          <a:xfrm>
            <a:off x="33404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atencao. Borda laranja. Indica prazo se aproximando ou situacao que exige revisao em breve.</a:t>
            </a:r>
            <a:endParaRPr lang="pt-BR" sz="1100" dirty="0"/>
          </a:p>
        </p:txBody>
      </p:sp>
      <p:sp>
        <p:nvSpPr>
          <p:cNvPr id="11" name="CardAlta"/>
          <p:cNvSpPr/>
          <p:nvPr/>
        </p:nvSpPr>
        <p:spPr>
          <a:xfrm>
            <a:off x="60436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" name="CardAltaTitle"/>
          <p:cNvSpPr/>
          <p:nvPr/>
        </p:nvSpPr>
        <p:spPr>
          <a:xfrm>
            <a:off x="61336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Alta Criticidade</a:t>
            </a:r>
            <a:endParaRPr lang="pt-BR" sz="1400" dirty="0"/>
          </a:p>
        </p:txBody>
      </p:sp>
      <p:sp>
        <p:nvSpPr>
          <p:cNvPr id="13" name="CardAltaBody"/>
          <p:cNvSpPr/>
          <p:nvPr/>
        </p:nvSpPr>
        <p:spPr>
          <a:xfrm>
            <a:off x="61336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Acao imediata necessaria. Widget pulsa em vermelho na tela. Maxima visibilidade para o usuario.</a:t>
            </a:r>
            <a:endParaRPr lang="pt-BR" sz="1100" dirty="0"/>
          </a:p>
        </p:txBody>
      </p:sp>
      <p:sp>
        <p:nvSpPr>
          <p:cNvPr id="14" name="CardUso"/>
          <p:cNvSpPr/>
          <p:nvPr/>
        </p:nvSpPr>
        <p:spPr>
          <a:xfrm>
            <a:off x="457200" y="2940000"/>
            <a:ext cx="4039800" cy="210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5" name="CardUsoTitle"/>
          <p:cNvSpPr/>
          <p:nvPr/>
        </p:nvSpPr>
        <p:spPr>
          <a:xfrm>
            <a:off x="547200" y="3040000"/>
            <a:ext cx="38598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Arrastar e Minimizar</a:t>
            </a:r>
            <a:endParaRPr lang="pt-BR" sz="1400" dirty="0"/>
          </a:p>
        </p:txBody>
      </p:sp>
      <p:sp>
        <p:nvSpPr>
          <p:cNvPr id="16" name="CardUsoBody"/>
          <p:cNvSpPr/>
          <p:nvPr/>
        </p:nvSpPr>
        <p:spPr>
          <a:xfrm>
            <a:off x="547200" y="3390000"/>
            <a:ext cx="3859800" cy="1553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widget flutua em qualquer tela. Arraste pelo cabecalho para reposicionar. Clique em — para minimizar como icone 📌 com contador de avisos ativos.</a:t>
            </a:r>
            <a:endParaRPr lang="pt-BR" sz="1100" dirty="0"/>
          </a:p>
        </p:txBody>
      </p:sp>
      <p:sp>
        <p:nvSpPr>
          <p:cNvPr id="17" name="CardOrigem"/>
          <p:cNvSpPr/>
          <p:nvPr/>
        </p:nvSpPr>
        <p:spPr>
          <a:xfrm>
            <a:off x="4647000" y="2940000"/>
            <a:ext cx="4039800" cy="2103500"/>
          </a:xfrm>
          <a:prstGeom prst="roundRect">
            <a:avLst>
              <a:gd name="adj" fmla="val 408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18" name="CardOrigemTitle"/>
          <p:cNvSpPr/>
          <p:nvPr/>
        </p:nvSpPr>
        <p:spPr>
          <a:xfrm>
            <a:off x="4737000" y="3040000"/>
            <a:ext cx="38598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Origem dos Avisos</a:t>
            </a:r>
            <a:endParaRPr lang="pt-BR" sz="1400" dirty="0"/>
          </a:p>
        </p:txBody>
      </p:sp>
      <p:sp>
        <p:nvSpPr>
          <p:cNvPr id="19" name="CardOrigemBody"/>
          <p:cNvSpPr/>
          <p:nvPr/>
        </p:nvSpPr>
        <p:spPr>
          <a:xfrm>
            <a:off x="4737000" y="3390000"/>
            <a:ext cx="3859800" cy="1553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👮 — comunicados operacionais e alertas do sistema. Diretoria 🏢 — mensagens estrategicas e diretrizes da empresa.</a:t>
            </a:r>
            <a:endParaRPr lang="pt-B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ACN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ACN Sinal Verde — Treinamento Interno</dc:title>
  <dc:subject>PptxGenJS Presentation</dc:subject>
  <dc:creator>ACN</dc:creator>
  <cp:lastModifiedBy>ACN</cp:lastModifiedBy>
  <cp:revision>1</cp:revision>
  <dcterms:created xsi:type="dcterms:W3CDTF">2026-07-13T00:50:18Z</dcterms:created>
  <dcterms:modified xsi:type="dcterms:W3CDTF">2026-07-13T00:50:18Z</dcterms:modified>
</cp:coreProperties>
</file>